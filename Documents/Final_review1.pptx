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imes New Roman" charset="1" panose="02020603050405020304"/>
      <p:regular r:id="rId24"/>
    </p:embeddedFont>
    <p:embeddedFont>
      <p:font typeface="Calibri (MS)" charset="1" panose="020F0502020204030204"/>
      <p:regular r:id="rId25"/>
    </p:embeddedFont>
    <p:embeddedFont>
      <p:font typeface="Times New Roman Bold" charset="1" panose="020208030705050203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  <a:p>
            <a:r>
              <a:rPr lang="en-US"/>
              <a:t>Department Name</a:t>
            </a:r>
          </a:p>
          <a:p>
            <a:r>
              <a:rPr lang="en-US"/>
              <a:t>Project /Seminar Code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6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28999" t="23000" r="35000" b="17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2304" y="6346879"/>
            <a:ext cx="6675149" cy="222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</a:p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Prof.  Teena Abraham</a:t>
            </a:r>
          </a:p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Assistant Professor</a:t>
            </a:r>
          </a:p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ECE Department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802"/>
            <a:chOff x="0" y="0"/>
            <a:chExt cx="5689600" cy="7304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400"/>
            </a:xfrm>
            <a:custGeom>
              <a:avLst/>
              <a:gdLst/>
              <a:ahLst/>
              <a:cxnLst/>
              <a:rect r="r" b="b" t="t" l="l"/>
              <a:pathLst>
                <a:path h="73040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400"/>
                  </a:lnTo>
                  <a:lnTo>
                    <a:pt x="0" y="73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782" r="0" b="-1017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689600" cy="768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4318" y="404870"/>
            <a:ext cx="1892960" cy="1676400"/>
            <a:chOff x="0" y="0"/>
            <a:chExt cx="2523947" cy="2235200"/>
          </a:xfrm>
        </p:grpSpPr>
        <p:sp>
          <p:nvSpPr>
            <p:cNvPr name="Freeform 8" id="8" descr="C:\Users\Admin\Desktop\ECL 201\MBITS LOGO.png"/>
            <p:cNvSpPr/>
            <p:nvPr/>
          </p:nvSpPr>
          <p:spPr>
            <a:xfrm flipH="false" flipV="false" rot="0">
              <a:off x="0" y="0"/>
              <a:ext cx="2523998" cy="2235200"/>
            </a:xfrm>
            <a:custGeom>
              <a:avLst/>
              <a:gdLst/>
              <a:ahLst/>
              <a:cxnLst/>
              <a:rect r="r" b="b" t="t" l="l"/>
              <a:pathLst>
                <a:path h="2235200" w="2523998">
                  <a:moveTo>
                    <a:pt x="0" y="0"/>
                  </a:moveTo>
                  <a:lnTo>
                    <a:pt x="2523998" y="0"/>
                  </a:lnTo>
                  <a:lnTo>
                    <a:pt x="2523998" y="2235200"/>
                  </a:lnTo>
                  <a:lnTo>
                    <a:pt x="0" y="223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1241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89804" y="6346879"/>
            <a:ext cx="6069496" cy="222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S6 ECE</a:t>
            </a:r>
          </a:p>
          <a:p>
            <a:pPr algn="l">
              <a:lnSpc>
                <a:spcPts val="4480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Jesald Tony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(MBI23EC015)</a:t>
            </a:r>
          </a:p>
          <a:p>
            <a:pPr algn="l">
              <a:lnSpc>
                <a:spcPts val="4480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Richard S Areckal (MBI22EC020)</a:t>
            </a:r>
          </a:p>
          <a:p>
            <a:pPr algn="l">
              <a:lnSpc>
                <a:spcPts val="4480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Sreejith VB (MBI22EC023)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883126" y="-1660789"/>
            <a:ext cx="5286985" cy="5943600"/>
            <a:chOff x="0" y="0"/>
            <a:chExt cx="7049313" cy="7924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49262" cy="7924800"/>
            </a:xfrm>
            <a:custGeom>
              <a:avLst/>
              <a:gdLst/>
              <a:ahLst/>
              <a:cxnLst/>
              <a:rect r="r" b="b" t="t" l="l"/>
              <a:pathLst>
                <a:path h="7924800" w="7049262">
                  <a:moveTo>
                    <a:pt x="0" y="0"/>
                  </a:moveTo>
                  <a:lnTo>
                    <a:pt x="7049262" y="0"/>
                  </a:lnTo>
                  <a:lnTo>
                    <a:pt x="7049262" y="7924800"/>
                  </a:lnTo>
                  <a:lnTo>
                    <a:pt x="0" y="792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737304" y="625926"/>
            <a:ext cx="14021552" cy="67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 BASELIOS INSTITUTE OF TECHNOLOGY AND SCIENCE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57200" y="9563100"/>
            <a:ext cx="4267200" cy="547802"/>
            <a:chOff x="0" y="0"/>
            <a:chExt cx="5689600" cy="7304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400"/>
            </a:xfrm>
            <a:custGeom>
              <a:avLst/>
              <a:gdLst/>
              <a:ahLst/>
              <a:cxnLst/>
              <a:rect r="r" b="b" t="t" l="l"/>
              <a:pathLst>
                <a:path h="73040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400"/>
                  </a:lnTo>
                  <a:lnTo>
                    <a:pt x="0" y="73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782" r="0" b="-10178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13/05/25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096000" y="9563100"/>
            <a:ext cx="5791200" cy="718170"/>
            <a:chOff x="0" y="0"/>
            <a:chExt cx="7721600" cy="957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21600" cy="957566"/>
            </a:xfrm>
            <a:custGeom>
              <a:avLst/>
              <a:gdLst/>
              <a:ahLst/>
              <a:cxnLst/>
              <a:rect r="r" b="b" t="t" l="l"/>
              <a:pathLst>
                <a:path h="957566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957566"/>
                  </a:lnTo>
                  <a:lnTo>
                    <a:pt x="0" y="9575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314" r="0" b="-9693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7721600" cy="98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>
                  <a:solidFill>
                    <a:srgbClr val="89898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ECD 334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527" y="1826628"/>
            <a:ext cx="14752349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</a:t>
            </a:r>
          </a:p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</a:t>
            </a:r>
          </a:p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ELECTRONICS AND COMMUNICATION ENGINEERING</a:t>
            </a:r>
          </a:p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MINIPROJECT FIRST REVIEW ON THE TOPIC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3426" y="4707150"/>
            <a:ext cx="16581149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DIGITAL MEASURING TAPE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20099" y="120939"/>
            <a:ext cx="10447801" cy="1283097"/>
            <a:chOff x="0" y="0"/>
            <a:chExt cx="13930401" cy="17107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30401" cy="1710801"/>
            </a:xfrm>
            <a:custGeom>
              <a:avLst/>
              <a:gdLst/>
              <a:ahLst/>
              <a:cxnLst/>
              <a:rect r="r" b="b" t="t" l="l"/>
              <a:pathLst>
                <a:path h="1710801" w="13930401">
                  <a:moveTo>
                    <a:pt x="0" y="0"/>
                  </a:moveTo>
                  <a:lnTo>
                    <a:pt x="13930401" y="0"/>
                  </a:lnTo>
                  <a:lnTo>
                    <a:pt x="13930401" y="1710801"/>
                  </a:lnTo>
                  <a:lnTo>
                    <a:pt x="0" y="17108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365" r="0" b="-10495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3930401" cy="1739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b="true" sz="6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OUTLINE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008947"/>
            <a:ext cx="16733549" cy="707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1. Introduction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2. Literature review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3. Objective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4. Design and Simulation Results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5. Block Diagram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6. Budget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7. Work Plan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8. Advantages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9.Future Scope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10.Conclusion</a:t>
            </a:r>
          </a:p>
          <a:p>
            <a:pPr algn="l">
              <a:lnSpc>
                <a:spcPts val="4391"/>
              </a:lnSpc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11.References</a:t>
            </a:r>
          </a:p>
          <a:p>
            <a:pPr algn="l">
              <a:lnSpc>
                <a:spcPts val="768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803"/>
            <a:chOff x="0" y="0"/>
            <a:chExt cx="5689600" cy="7384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400"/>
            </a:xfrm>
            <a:custGeom>
              <a:avLst/>
              <a:gdLst/>
              <a:ahLst/>
              <a:cxnLst/>
              <a:rect r="r" b="b" t="t" l="l"/>
              <a:pathLst>
                <a:path h="73840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400"/>
                  </a:lnTo>
                  <a:lnTo>
                    <a:pt x="0" y="73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138" r="0" b="-10013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23517" y="9534525"/>
            <a:ext cx="8857202" cy="547802"/>
            <a:chOff x="0" y="0"/>
            <a:chExt cx="11809603" cy="7304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09600" cy="730400"/>
            </a:xfrm>
            <a:custGeom>
              <a:avLst/>
              <a:gdLst/>
              <a:ahLst/>
              <a:cxnLst/>
              <a:rect r="r" b="b" t="t" l="l"/>
              <a:pathLst>
                <a:path h="730400" w="11809600">
                  <a:moveTo>
                    <a:pt x="0" y="0"/>
                  </a:moveTo>
                  <a:lnTo>
                    <a:pt x="11809600" y="0"/>
                  </a:lnTo>
                  <a:lnTo>
                    <a:pt x="11809600" y="730400"/>
                  </a:lnTo>
                  <a:lnTo>
                    <a:pt x="0" y="73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5047" r="0" b="-26504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809603" cy="768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802"/>
            <a:chOff x="0" y="0"/>
            <a:chExt cx="5689600" cy="7304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400"/>
            </a:xfrm>
            <a:custGeom>
              <a:avLst/>
              <a:gdLst/>
              <a:ahLst/>
              <a:cxnLst/>
              <a:rect r="r" b="b" t="t" l="l"/>
              <a:pathLst>
                <a:path h="73040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400"/>
                  </a:lnTo>
                  <a:lnTo>
                    <a:pt x="0" y="73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782" r="0" b="-10178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71800" y="0"/>
            <a:ext cx="12344400" cy="1469269"/>
            <a:chOff x="0" y="0"/>
            <a:chExt cx="16459200" cy="19590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59200" cy="1959024"/>
            </a:xfrm>
            <a:custGeom>
              <a:avLst/>
              <a:gdLst/>
              <a:ahLst/>
              <a:cxnLst/>
              <a:rect r="r" b="b" t="t" l="l"/>
              <a:pathLst>
                <a:path h="195902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959024"/>
                  </a:lnTo>
                  <a:lnTo>
                    <a:pt x="0" y="19590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708" r="0" b="-11370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6459200" cy="1987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INTRODUCTION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923222"/>
            <a:ext cx="16230600" cy="526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5919" indent="-437959" lvl="1">
              <a:lnSpc>
                <a:spcPts val="5227"/>
              </a:lnSpc>
              <a:buFont typeface="Arial"/>
              <a:buChar char="•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digital measuring tape is an electronic device used to measure linear distance accurately using sensors and a microcontroller.</a:t>
            </a:r>
          </a:p>
          <a:p>
            <a:pPr algn="l" marL="875919" indent="-437960" lvl="1">
              <a:lnSpc>
                <a:spcPts val="5227"/>
              </a:lnSpc>
              <a:buFont typeface="Arial"/>
              <a:buChar char="•"/>
            </a:pPr>
            <a:r>
              <a:rPr lang="en-US" sz="3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uses an Arduino Nano and a rotary encoder to convert wheel rotation into digital distance values.</a:t>
            </a:r>
          </a:p>
          <a:p>
            <a:pPr algn="l" marL="875919" indent="-437959" lvl="1">
              <a:lnSpc>
                <a:spcPts val="5227"/>
              </a:lnSpc>
              <a:buFont typeface="Arial"/>
              <a:buChar char="•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measured distance is calculated electronically and displayed in real-time on a 16×2 LCD screen.</a:t>
            </a:r>
          </a:p>
          <a:p>
            <a:pPr algn="l" marL="875919" indent="-437959" lvl="1">
              <a:lnSpc>
                <a:spcPts val="5227"/>
              </a:lnSpc>
              <a:buFont typeface="Arial"/>
              <a:buChar char="•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demonstrates a practical application of embedded systems in measurement and automation.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31531" y="9534525"/>
            <a:ext cx="9721082" cy="547688"/>
            <a:chOff x="0" y="0"/>
            <a:chExt cx="12961442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61440" cy="730251"/>
            </a:xfrm>
            <a:custGeom>
              <a:avLst/>
              <a:gdLst/>
              <a:ahLst/>
              <a:cxnLst/>
              <a:rect r="r" b="b" t="t" l="l"/>
              <a:pathLst>
                <a:path h="730251" w="12961440">
                  <a:moveTo>
                    <a:pt x="0" y="0"/>
                  </a:moveTo>
                  <a:lnTo>
                    <a:pt x="12961440" y="0"/>
                  </a:lnTo>
                  <a:lnTo>
                    <a:pt x="1296144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5845" r="0" b="-29584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961442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-98149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REVIEW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2037522"/>
          <a:ext cx="16535400" cy="5567362"/>
        </p:xfrm>
        <a:graphic>
          <a:graphicData uri="http://schemas.openxmlformats.org/drawingml/2006/table">
            <a:tbl>
              <a:tblPr/>
              <a:tblGrid>
                <a:gridCol w="1801898"/>
                <a:gridCol w="3683375"/>
                <a:gridCol w="3683375"/>
                <a:gridCol w="3683375"/>
                <a:gridCol w="3683375"/>
              </a:tblGrid>
              <a:tr h="132510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SL.NO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TOPIC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AUTHOR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YEAR OF PUBLICATION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42422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Digital Measuring Tape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P. Sabarinath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escribes the design and working of a digital measuring tape using a microcontroller and rotary encoder to measure distance electronically.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ECQ 413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-315566"/>
            <a:ext cx="16459200" cy="2160240"/>
            <a:chOff x="0" y="0"/>
            <a:chExt cx="21945600" cy="28803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880318"/>
            </a:xfrm>
            <a:custGeom>
              <a:avLst/>
              <a:gdLst/>
              <a:ahLst/>
              <a:cxnLst/>
              <a:rect r="r" b="b" t="t" l="l"/>
              <a:pathLst>
                <a:path h="288031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880318"/>
                  </a:lnTo>
                  <a:lnTo>
                    <a:pt x="0" y="2880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59" r="0" b="-9845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908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REVIEW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1816100"/>
          <a:ext cx="16510000" cy="7747000"/>
        </p:xfrm>
        <a:graphic>
          <a:graphicData uri="http://schemas.openxmlformats.org/drawingml/2006/table">
            <a:tbl>
              <a:tblPr/>
              <a:tblGrid>
                <a:gridCol w="3302000"/>
                <a:gridCol w="3302000"/>
                <a:gridCol w="3302000"/>
                <a:gridCol w="3302000"/>
                <a:gridCol w="3302000"/>
              </a:tblGrid>
              <a:tr h="9316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SL.NO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TOPIC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AUTHOR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YEAR OF PUBLICATION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68153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Digital Tape Measure Using Rotary Encoder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Arduino Forum Community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iscusses technical challenges and solutions in decoding encoder pulses for accurate distance measurement using Arduino.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-96596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008947"/>
            <a:ext cx="1628775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accessibility to quick and accurate distance measurement</a:t>
            </a:r>
          </a:p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 convenient and error-free digital measurement</a:t>
            </a:r>
          </a:p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ease of use with real-time visual display</a:t>
            </a:r>
          </a:p>
          <a:p>
            <a:pPr algn="l" marL="868223" indent="-434111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 awareness of modern digital measurement techniques</a:t>
            </a:r>
          </a:p>
          <a:p>
            <a:pPr algn="l">
              <a:lnSpc>
                <a:spcPts val="432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-99787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BLOCK DIAGRAM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493371" y="2037522"/>
            <a:ext cx="11301259" cy="6328705"/>
          </a:xfrm>
          <a:custGeom>
            <a:avLst/>
            <a:gdLst/>
            <a:ahLst/>
            <a:cxnLst/>
            <a:rect r="r" b="b" t="t" l="l"/>
            <a:pathLst>
              <a:path h="6328705" w="11301259">
                <a:moveTo>
                  <a:pt x="0" y="0"/>
                </a:moveTo>
                <a:lnTo>
                  <a:pt x="11301258" y="0"/>
                </a:lnTo>
                <a:lnTo>
                  <a:pt x="11301258" y="6328705"/>
                </a:lnTo>
                <a:lnTo>
                  <a:pt x="0" y="63287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696498" y="8554965"/>
            <a:ext cx="289500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FIG 1: BLOCK DIAGRAM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4936" y="-93477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DESIGN AND SIMULATION RESULTS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438400" y="2621148"/>
            <a:ext cx="13992272" cy="5785880"/>
            <a:chOff x="0" y="0"/>
            <a:chExt cx="16937292" cy="70036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937355" cy="7003699"/>
            </a:xfrm>
            <a:custGeom>
              <a:avLst/>
              <a:gdLst/>
              <a:ahLst/>
              <a:cxnLst/>
              <a:rect r="r" b="b" t="t" l="l"/>
              <a:pathLst>
                <a:path h="7003699" w="16937355">
                  <a:moveTo>
                    <a:pt x="0" y="0"/>
                  </a:moveTo>
                  <a:lnTo>
                    <a:pt x="16937355" y="0"/>
                  </a:lnTo>
                  <a:lnTo>
                    <a:pt x="16937355" y="7003699"/>
                  </a:lnTo>
                  <a:lnTo>
                    <a:pt x="0" y="7003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196" r="0" b="-14196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478613" y="8554965"/>
            <a:ext cx="33307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FIG 2: SIMULATION RESULT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-73823"/>
            <a:ext cx="16459200" cy="1714800"/>
            <a:chOff x="0" y="0"/>
            <a:chExt cx="21945600" cy="228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406"/>
            </a:xfrm>
            <a:custGeom>
              <a:avLst/>
              <a:gdLst/>
              <a:ahLst/>
              <a:cxnLst/>
              <a:rect r="r" b="b" t="t" l="l"/>
              <a:pathLst>
                <a:path h="228640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406"/>
                  </a:lnTo>
                  <a:lnTo>
                    <a:pt x="0" y="22864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023" r="0" b="-137022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945600" cy="232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BUDGET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800"/>
            <a:chOff x="0" y="0"/>
            <a:chExt cx="5689600" cy="73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398"/>
            </a:xfrm>
            <a:custGeom>
              <a:avLst/>
              <a:gdLst/>
              <a:ahLst/>
              <a:cxnLst/>
              <a:rect r="r" b="b" t="t" l="l"/>
              <a:pathLst>
                <a:path h="730398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398"/>
                  </a:lnTo>
                  <a:lnTo>
                    <a:pt x="0" y="7303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782" r="0" b="-10178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689600" cy="76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aphicFrame>
        <p:nvGraphicFramePr>
          <p:cNvPr name="Object 9" id="9"/>
          <p:cNvGraphicFramePr/>
          <p:nvPr/>
        </p:nvGraphicFramePr>
        <p:xfrm>
          <a:off x="1722336" y="2057400"/>
          <a:ext cx="3771900" cy="5657850"/>
        </p:xfrm>
        <a:graphic>
          <a:graphicData uri="http://schemas.openxmlformats.org/presentationml/2006/ole">
            <p:oleObj imgW="4902200" imgH="67818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722336" y="1755277"/>
            <a:ext cx="240327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2 : Work plan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28999" t="23000" r="35000" b="1700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944757" y="2597873"/>
          <a:ext cx="14574112" cy="6700838"/>
        </p:xfrm>
        <a:graphic>
          <a:graphicData uri="http://schemas.openxmlformats.org/drawingml/2006/table">
            <a:tbl>
              <a:tblPr/>
              <a:tblGrid>
                <a:gridCol w="4858037"/>
                <a:gridCol w="4907301"/>
                <a:gridCol w="4808774"/>
              </a:tblGrid>
              <a:tr h="6576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DATE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WORK DONE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WORK TO BE DONE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107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/12/2025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Decided the project topic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_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</a:tr>
              <a:tr h="6576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15/12/2025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Submitted abstract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_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</a:tr>
              <a:tr h="107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/12/2025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Conducted zeroth review presentation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_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</a:tr>
              <a:tr h="14964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/01/2026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Partially 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 the simulation part  using Arduino IDE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</a:tr>
              <a:tr h="107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05/02/2026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 the simulation part using Arduino IDE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_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2F5"/>
                    </a:solidFill>
                  </a:tcPr>
                </a:tc>
              </a:tr>
              <a:tr h="6576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/02/2026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_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review presentation</a:t>
                      </a:r>
                      <a:endParaRPr lang="en-US" sz="1100"/>
                    </a:p>
                  </a:txBody>
                  <a:tcPr marL="45725" marR="45725" marT="45725" marB="457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697188" y="1636482"/>
            <a:ext cx="5089798" cy="657000"/>
            <a:chOff x="0" y="0"/>
            <a:chExt cx="6786397" cy="87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86400" cy="876005"/>
            </a:xfrm>
            <a:custGeom>
              <a:avLst/>
              <a:gdLst/>
              <a:ahLst/>
              <a:cxnLst/>
              <a:rect r="r" b="b" t="t" l="l"/>
              <a:pathLst>
                <a:path h="876005" w="6786400">
                  <a:moveTo>
                    <a:pt x="0" y="0"/>
                  </a:moveTo>
                  <a:lnTo>
                    <a:pt x="6786400" y="0"/>
                  </a:lnTo>
                  <a:lnTo>
                    <a:pt x="6786400" y="876005"/>
                  </a:lnTo>
                  <a:lnTo>
                    <a:pt x="0" y="8760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950" r="0" b="-10094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786397" cy="88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Table 2 : Work plan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1119803" cy="10287000"/>
          </a:xfrm>
          <a:custGeom>
            <a:avLst/>
            <a:gdLst/>
            <a:ahLst/>
            <a:cxnLst/>
            <a:rect r="r" b="b" t="t" l="l"/>
            <a:pathLst>
              <a:path h="10287000" w="1119803">
                <a:moveTo>
                  <a:pt x="0" y="0"/>
                </a:moveTo>
                <a:lnTo>
                  <a:pt x="1119803" y="0"/>
                </a:lnTo>
                <a:lnTo>
                  <a:pt x="111980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1198" y="-12898"/>
            <a:ext cx="16185604" cy="127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17"/>
              </a:lnSpc>
            </a:pPr>
            <a:r>
              <a:rPr lang="en-US" b="true" sz="6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 PLAN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-95250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ADVANTAGES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008947"/>
            <a:ext cx="16230600" cy="279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2693" indent="-441347" lvl="1">
              <a:lnSpc>
                <a:spcPts val="4391"/>
              </a:lnSpc>
              <a:buFont typeface="Arial"/>
              <a:buChar char="•"/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</a:t>
            </a: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ccurate and real-time digital distance measurement with minimal error</a:t>
            </a:r>
          </a:p>
          <a:p>
            <a:pPr algn="l" marL="882693" indent="-441347" lvl="1">
              <a:lnSpc>
                <a:spcPts val="4391"/>
              </a:lnSpc>
              <a:buFont typeface="Arial"/>
              <a:buChar char="•"/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Compact and portable design ensures ease of handling and operation</a:t>
            </a:r>
          </a:p>
          <a:p>
            <a:pPr algn="l" marL="883158" indent="-441579" lvl="1">
              <a:lnSpc>
                <a:spcPts val="4391"/>
              </a:lnSpc>
              <a:buFont typeface="Arial"/>
              <a:buChar char="•"/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ost-effective system with a simple and reliable circuit architecture</a:t>
            </a:r>
          </a:p>
          <a:p>
            <a:pPr algn="l" marL="882693" indent="-441347" lvl="1">
              <a:lnSpc>
                <a:spcPts val="4391"/>
              </a:lnSpc>
              <a:buFont typeface="Arial"/>
              <a:buChar char="•"/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Enhances understanding of embedded systems, microcontrollers, and sensor interfacing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-95250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FUTURE SCOPE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008947"/>
            <a:ext cx="1623060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223" indent="-434111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reless data transmission using Bluetooth or Wi-Fi</a:t>
            </a:r>
          </a:p>
          <a:p>
            <a:pPr algn="l" marL="868223" indent="-434111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Storing measured data using memory modules or SD card</a:t>
            </a:r>
          </a:p>
          <a:p>
            <a:pPr algn="l" marL="868223" indent="-434111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mobile applications for visualization</a:t>
            </a:r>
          </a:p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accuracy using higher resolution encoders</a:t>
            </a:r>
          </a:p>
          <a:p>
            <a:pPr algn="l">
              <a:lnSpc>
                <a:spcPts val="432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-104775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CONCLUSION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008947"/>
            <a:ext cx="16253460" cy="383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digital measuring tape successfully measures distance accurately using a rotary encoder and Arduino Nano.</a:t>
            </a:r>
          </a:p>
          <a:p>
            <a:pPr algn="just" marL="868223" indent="-434111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demonstrates effective conversion of mechanical motion into digital data with real-time display.</a:t>
            </a:r>
          </a:p>
          <a:p>
            <a:pPr algn="just" marL="868223" indent="-434111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serves as a simple and reliable learning platform for embedded systems and automation concepts.</a:t>
            </a:r>
          </a:p>
          <a:p>
            <a:pPr algn="just">
              <a:lnSpc>
                <a:spcPts val="4391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21600" cy="768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411956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008947"/>
            <a:ext cx="15535551" cy="279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83158" indent="-441579" lvl="1">
              <a:lnSpc>
                <a:spcPts val="4391"/>
              </a:lnSpc>
              <a:buFont typeface="Arial"/>
              <a:buChar char="•"/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P. Sabarinath, “Digital Measuring Tape,” ElectronicWings, Dec. 13, 2021.</a:t>
            </a:r>
          </a:p>
          <a:p>
            <a:pPr algn="just" marL="883158" indent="-441579" lvl="1">
              <a:lnSpc>
                <a:spcPts val="4391"/>
              </a:lnSpc>
              <a:buFont typeface="Arial"/>
              <a:buChar char="•"/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J. Craftsman, “How to Make a Digital Tape Measure: Step-by-Step Guide (Arduino + 3D Print),” YouTube, Apr. 2023. </a:t>
            </a:r>
          </a:p>
          <a:p>
            <a:pPr algn="just" marL="883158" indent="-441579" lvl="1">
              <a:lnSpc>
                <a:spcPts val="4391"/>
              </a:lnSpc>
              <a:buFont typeface="Arial"/>
              <a:buChar char="•"/>
            </a:pPr>
            <a:r>
              <a:rPr lang="en-US" sz="36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Forum, “Digital Tape Measure – Decoding Serial Data,” Arduino.cc, Dec. 14, 2024.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04800" y="9563100"/>
            <a:ext cx="4267200" cy="553717"/>
            <a:chOff x="0" y="0"/>
            <a:chExt cx="5689600" cy="738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8293"/>
            </a:xfrm>
            <a:custGeom>
              <a:avLst/>
              <a:gdLst/>
              <a:ahLst/>
              <a:cxnLst/>
              <a:rect r="r" b="b" t="t" l="l"/>
              <a:pathLst>
                <a:path h="738293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60" r="0" b="-1001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76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43600" y="9563100"/>
            <a:ext cx="5791200" cy="547688"/>
            <a:chOff x="0" y="0"/>
            <a:chExt cx="7721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28999" t="23000" r="35000" b="17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6403" y="9576749"/>
            <a:ext cx="4267200" cy="547688"/>
            <a:chOff x="0" y="0"/>
            <a:chExt cx="5689600" cy="7302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February 2026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096000" y="9563100"/>
            <a:ext cx="5791200" cy="547688"/>
            <a:chOff x="0" y="0"/>
            <a:chExt cx="7721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21600" cy="730251"/>
            </a:xfrm>
            <a:custGeom>
              <a:avLst/>
              <a:gdLst/>
              <a:ahLst/>
              <a:cxnLst/>
              <a:rect r="r" b="b" t="t" l="l"/>
              <a:pathLst>
                <a:path h="7302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32" r="0" b="-1560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721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ECD 334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94543" y="4084320"/>
            <a:ext cx="12161520" cy="123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DAHA2HzXDRs</dc:identifier>
  <dcterms:modified xsi:type="dcterms:W3CDTF">2011-08-01T06:04:30Z</dcterms:modified>
  <cp:revision>1</cp:revision>
  <dc:title>Review1.pptx</dc:title>
</cp:coreProperties>
</file>