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6FE318-1F83-4B45-B57D-3502D35C7F7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8A4775-005C-4B19-BB9B-B9452F7730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ftr" idx="51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110A5C-4C04-479C-86A6-9DB52E9E7FE5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27BAB4-47DC-432B-BD00-036D9B9C78D0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54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D9C764-CB3A-4A7A-A686-CC550904294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4C6215-D23A-4953-B83C-894B09CF116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0308ED-8199-476C-8C88-11BBB08DFE4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ftr" idx="58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FC337F-9FA8-4E85-9811-E468DB759A8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60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608977-E180-4CA4-9CE2-02DD4F155EE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62BC24-54E6-4FD7-A50F-2A0F80A2876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9DD2A2-0494-4A62-9031-7A3CBE06A23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A02B46-541D-4156-BB4F-F255C8C5D1A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8F633C-FC0F-4306-A791-F4FCBC4E88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440" cy="87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0920" cy="438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440" cy="35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11F678-F2B3-4DF4-91C6-F7A6878C83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5680" cy="4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5680" cy="60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67A3B7-5F9D-45C2-9FCC-F0C8CDB4D53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228600" y="47815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048120" y="4781520"/>
            <a:ext cx="2894760" cy="2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AF472B-2DE8-4A50-AD17-4299197B97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0CE73D-B5B7-45A6-BAD1-A3F9578531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6680" cy="43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200" cy="43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BE0D0B-440F-4AFE-9EE4-F8728B60A1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152280" y="4781520"/>
            <a:ext cx="2133000" cy="2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297180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4BBFAE-FC8C-4214-92F6-9B057A8909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1680" cy="102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1680" cy="11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98882F-3CA0-422A-A1F5-394DDCD0DA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8193A2-E6DE-4F0B-9591-6C59899A49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56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560" cy="29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00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000" cy="29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24BFB6-01FD-4E9D-8344-63620F28CF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693946-25AC-4DF0-987F-53E8359EB6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60440" y="3189600"/>
            <a:ext cx="3428280" cy="13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Guided by: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Prof. Teena Abraham, Asst Professor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Mr.Eldhose Joy, Tradesman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ECE DEPAR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3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Picture 2" descr="C:\Users\Admin\Desktop\ECL 201\MBITS LOGO.png"/>
          <p:cNvPicPr/>
          <p:nvPr/>
        </p:nvPicPr>
        <p:blipFill>
          <a:blip r:embed="rId1"/>
          <a:stretch/>
        </p:blipFill>
        <p:spPr>
          <a:xfrm>
            <a:off x="214200" y="142920"/>
            <a:ext cx="1071000" cy="102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ubtitle 2"/>
          <p:cNvSpPr/>
          <p:nvPr/>
        </p:nvSpPr>
        <p:spPr>
          <a:xfrm>
            <a:off x="5943600" y="3411000"/>
            <a:ext cx="251388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0" name="Subtitle 2"/>
          <p:cNvSpPr/>
          <p:nvPr/>
        </p:nvSpPr>
        <p:spPr>
          <a:xfrm>
            <a:off x="6629400" y="3643200"/>
            <a:ext cx="251388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1" name="Subtitle 2"/>
          <p:cNvSpPr/>
          <p:nvPr/>
        </p:nvSpPr>
        <p:spPr>
          <a:xfrm>
            <a:off x="1828800" y="2082240"/>
            <a:ext cx="4952160" cy="8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1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Subtitle 2"/>
          <p:cNvSpPr/>
          <p:nvPr/>
        </p:nvSpPr>
        <p:spPr>
          <a:xfrm>
            <a:off x="5200560" y="3003840"/>
            <a:ext cx="399996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7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Presented by: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Jesald Tony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Richard S Arreckal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     Sreejith VB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 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7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S6 ECE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1151640" y="101160"/>
            <a:ext cx="710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MAR BASELIOS INSTITUTE OF TECHNOLOGY AND SCIENCE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2798280" y="437400"/>
            <a:ext cx="2619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NELLIMATTOM, KOTHAMANGALAM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8"/>
          </p:nvPr>
        </p:nvSpPr>
        <p:spPr>
          <a:xfrm>
            <a:off x="228600" y="47815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BA82DB9-C4A4-42FD-8465-FEF86234B2F7}" type="datetime3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December 14, 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39"/>
          </p:nvPr>
        </p:nvSpPr>
        <p:spPr>
          <a:xfrm>
            <a:off x="2143080" y="4786200"/>
            <a:ext cx="507132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Box 16"/>
          <p:cNvSpPr/>
          <p:nvPr/>
        </p:nvSpPr>
        <p:spPr>
          <a:xfrm>
            <a:off x="1664280" y="714240"/>
            <a:ext cx="4998600" cy="73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DEPARTMENT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ELECTRONICS AND COMMUNICATION ENGINEERING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"/>
          <p:cNvSpPr/>
          <p:nvPr/>
        </p:nvSpPr>
        <p:spPr>
          <a:xfrm>
            <a:off x="784440" y="1722240"/>
            <a:ext cx="7101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ECD334   MINIPROJECT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ZEROTH REVIEW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AutoShape 2" descr="NBA Accreditation | Admission in B.tech ..."/>
          <p:cNvSpPr/>
          <p:nvPr/>
        </p:nvSpPr>
        <p:spPr>
          <a:xfrm>
            <a:off x="155520" y="-14436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AutoShape 4" descr="NBA Accreditation | Admission in B.tech ..."/>
          <p:cNvSpPr/>
          <p:nvPr/>
        </p:nvSpPr>
        <p:spPr>
          <a:xfrm>
            <a:off x="155520" y="-14436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5" descr=""/>
          <p:cNvPicPr/>
          <p:nvPr/>
        </p:nvPicPr>
        <p:blipFill>
          <a:blip r:embed="rId2"/>
          <a:stretch/>
        </p:blipFill>
        <p:spPr>
          <a:xfrm>
            <a:off x="6786720" y="437400"/>
            <a:ext cx="999360" cy="999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" name="Picture 6" descr=""/>
          <p:cNvPicPr/>
          <p:nvPr/>
        </p:nvPicPr>
        <p:blipFill>
          <a:blip r:embed="rId3"/>
          <a:stretch/>
        </p:blipFill>
        <p:spPr>
          <a:xfrm>
            <a:off x="7866000" y="470520"/>
            <a:ext cx="999360" cy="93024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57200" y="214200"/>
            <a:ext cx="648252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85800" y="1000080"/>
            <a:ext cx="8457480" cy="39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Introduction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Block Diagram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Circuit Diagram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Components Required with Specification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Advantages &amp; Applications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0"/>
          </p:nvPr>
        </p:nvSpPr>
        <p:spPr>
          <a:xfrm>
            <a:off x="152280" y="4781520"/>
            <a:ext cx="2133000" cy="2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4568987-CE28-41C1-8E3D-F856B1F214D6}" type="datetime3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December 14, 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41"/>
          </p:nvPr>
        </p:nvSpPr>
        <p:spPr>
          <a:xfrm>
            <a:off x="2205360" y="4784400"/>
            <a:ext cx="4427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4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5C62A8-EF99-4C27-B857-0763C3C68A91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793800"/>
            <a:ext cx="8228880" cy="389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“TUNABLE FREQUENCY GENERATOR USING MINIMAL ANALOG COMPONENTS”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256680" y="151560"/>
            <a:ext cx="173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280" y="0"/>
            <a:ext cx="7923960" cy="9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251640" y="653040"/>
            <a:ext cx="8154720" cy="385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ctr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Designed using commonly available components for simple construction and maintenance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LM741 operational amplifiers generate stable and tunable oscillations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Resistors, potentiometers, and capacitors enable frequency adjustment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Zener and switching diodes ensure voltage control and signal stability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2N2222 and PN2907 transistors provide signal shaping and amplification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Suitable as a low-cost signal source for educational and laboratory use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Offers a clear demonstration of core analog electronics principles with minimal circuit complexity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ftr" idx="43"/>
          </p:nvPr>
        </p:nvSpPr>
        <p:spPr>
          <a:xfrm>
            <a:off x="2051640" y="4803840"/>
            <a:ext cx="4860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2B93E-9383-46D5-AFEC-3CB6032E12B8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6459AEA-04FF-4302-977C-53F0CC48BD83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Arrow: Right 34"/>
          <p:cNvSpPr/>
          <p:nvPr/>
        </p:nvSpPr>
        <p:spPr>
          <a:xfrm>
            <a:off x="4879080" y="2077560"/>
            <a:ext cx="73872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Arrow: Down 38"/>
          <p:cNvSpPr/>
          <p:nvPr/>
        </p:nvSpPr>
        <p:spPr>
          <a:xfrm flipH="1">
            <a:off x="6192000" y="2545200"/>
            <a:ext cx="207720" cy="446040"/>
          </a:xfrm>
          <a:prstGeom prst="downArrow">
            <a:avLst>
              <a:gd name="adj1" fmla="val 62903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40"/>
          <p:cNvSpPr/>
          <p:nvPr/>
        </p:nvSpPr>
        <p:spPr>
          <a:xfrm>
            <a:off x="1371600" y="1848600"/>
            <a:ext cx="1599840" cy="70524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Frequency Control 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(Potentiometer)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41"/>
          <p:cNvSpPr/>
          <p:nvPr/>
        </p:nvSpPr>
        <p:spPr>
          <a:xfrm>
            <a:off x="5636520" y="1852560"/>
            <a:ext cx="1449720" cy="6814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Signal shaping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Arrow: Right 42"/>
          <p:cNvSpPr/>
          <p:nvPr/>
        </p:nvSpPr>
        <p:spPr>
          <a:xfrm>
            <a:off x="2971800" y="2084400"/>
            <a:ext cx="73332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45"/>
          <p:cNvSpPr/>
          <p:nvPr/>
        </p:nvSpPr>
        <p:spPr>
          <a:xfrm>
            <a:off x="3729600" y="1848600"/>
            <a:ext cx="1149120" cy="75744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Oscillator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"/>
          <p:cNvSpPr/>
          <p:nvPr/>
        </p:nvSpPr>
        <p:spPr>
          <a:xfrm>
            <a:off x="5636520" y="2991600"/>
            <a:ext cx="1449720" cy="6814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Amplifier/Driver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Arrow: Right 43"/>
          <p:cNvSpPr/>
          <p:nvPr/>
        </p:nvSpPr>
        <p:spPr>
          <a:xfrm flipH="1">
            <a:off x="5003640" y="3220200"/>
            <a:ext cx="63216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3537000" y="2975760"/>
            <a:ext cx="1449720" cy="6814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Output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 CIRCUIT DIAGRAM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44"/>
          </p:nvPr>
        </p:nvSpPr>
        <p:spPr>
          <a:xfrm>
            <a:off x="1979640" y="4813200"/>
            <a:ext cx="4714200" cy="2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3200400" y="4343400"/>
            <a:ext cx="3049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Fig 2: Tunnable frequency Generator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256320" y="1600200"/>
            <a:ext cx="4315320" cy="251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233600" y="2021400"/>
            <a:ext cx="4609440" cy="19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32A907-98D6-4F2F-AB9D-B4078B9C207D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8F506BE7-A935-40A9-B68E-7A9FAC7C9A7C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 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560" y="1149840"/>
            <a:ext cx="8228880" cy="36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1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LM741 Operation Amplifer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2N2222 NPN transistor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PN2907 PNP transistor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Zener diodes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Switching diodes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Potentiometer for frequency tuning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Capacitors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ftr" idx="45"/>
          </p:nvPr>
        </p:nvSpPr>
        <p:spPr>
          <a:xfrm>
            <a:off x="2195640" y="4783320"/>
            <a:ext cx="4385520" cy="3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AC7159-E6FA-494A-AD80-463B4CBF6BE1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22A6CF1-F43B-4602-92D7-76A885CC6DCD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5. ADVANTAGES &amp; APPLICATIONS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Low-cost and simple design using minimal analog components suitable for educational use.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Provides stable and tunable frequency output for testing and experimentation.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Easy to understand and modify, making it ideal for learning core analog electronics concepts.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Used for educational laboratory experiments and academic demonstrations.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Applied in signal injection and testing of electronic circuits.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Suitable for hobbyist projects and basic analog system evaluation.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46"/>
          </p:nvPr>
        </p:nvSpPr>
        <p:spPr>
          <a:xfrm>
            <a:off x="2411640" y="4803840"/>
            <a:ext cx="3938040" cy="26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100720-13B6-4F72-BE29-5DF13830F649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1C5BF98-F84C-47F4-87FD-FB6AE53B9D9D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361800" y="260280"/>
            <a:ext cx="1504080" cy="41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685800" y="2028240"/>
            <a:ext cx="75434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“SMART IRRIGATION SYSTEM USING ARDUINO”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46120" y="1200240"/>
            <a:ext cx="8139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increasing demand for efficient water management has made automation essential in modern irrigation practices.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Traditional irrigation methods often lead to water wastage due to over-watering or delayed watering.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project presents a smart irrigation system that automatically monitors soil moisture levels in real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 Arduino microcontroller processes sensor data to control a water pump based on predefined moisture thresholds.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system ensures optimal water usage while reducing manual effort and human intervention.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By conserving water and supporting healthy plant growth, the system provides a cost-effective and sustainable solution for agriculture and home gardening.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5760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ontent Placeholder 4"/>
          <p:cNvSpPr/>
          <p:nvPr/>
        </p:nvSpPr>
        <p:spPr>
          <a:xfrm>
            <a:off x="1809720" y="2129400"/>
            <a:ext cx="1129680" cy="748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Soil Moisture Sensor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: Rounded Corners 5"/>
          <p:cNvSpPr/>
          <p:nvPr/>
        </p:nvSpPr>
        <p:spPr>
          <a:xfrm>
            <a:off x="3400560" y="1371600"/>
            <a:ext cx="754920" cy="27867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A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U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Arrow: Right 9"/>
          <p:cNvSpPr/>
          <p:nvPr/>
        </p:nvSpPr>
        <p:spPr>
          <a:xfrm>
            <a:off x="2965320" y="2365200"/>
            <a:ext cx="410400" cy="27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Arrow: Right 11"/>
          <p:cNvSpPr/>
          <p:nvPr/>
        </p:nvSpPr>
        <p:spPr>
          <a:xfrm>
            <a:off x="4162680" y="1658160"/>
            <a:ext cx="86616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: Rounded Corners 12"/>
          <p:cNvSpPr/>
          <p:nvPr/>
        </p:nvSpPr>
        <p:spPr>
          <a:xfrm>
            <a:off x="5029200" y="1503360"/>
            <a:ext cx="1072440" cy="746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Water Pump(Motor/Relay)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: Rounded Corners 13"/>
          <p:cNvSpPr/>
          <p:nvPr/>
        </p:nvSpPr>
        <p:spPr>
          <a:xfrm>
            <a:off x="5029200" y="3187080"/>
            <a:ext cx="1072440" cy="493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Power Supply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: Rounded Corners 14"/>
          <p:cNvSpPr/>
          <p:nvPr/>
        </p:nvSpPr>
        <p:spPr>
          <a:xfrm>
            <a:off x="6708960" y="1539360"/>
            <a:ext cx="1063080" cy="493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Irrigation/water flow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Arrow: Right 1"/>
          <p:cNvSpPr/>
          <p:nvPr/>
        </p:nvSpPr>
        <p:spPr>
          <a:xfrm>
            <a:off x="4155840" y="3258360"/>
            <a:ext cx="86616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Arrow: Right 2"/>
          <p:cNvSpPr/>
          <p:nvPr/>
        </p:nvSpPr>
        <p:spPr>
          <a:xfrm>
            <a:off x="6102000" y="1658160"/>
            <a:ext cx="60660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64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3.CIRCUIT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349640" y="914400"/>
            <a:ext cx="6422400" cy="408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888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393840" y="874440"/>
            <a:ext cx="8355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Arduino microcontroller board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Soil moisture sensor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Water pump (DC pump)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Relay module or motor driver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External power supply or battery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Connecting wires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Breadboard or PCB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Water pipes or tubing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433800" y="260280"/>
            <a:ext cx="1504080" cy="41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515600" y="2057400"/>
            <a:ext cx="5570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“SMART SHOPPING CART SYSTEM”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46120" y="1200240"/>
            <a:ext cx="8139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smart shopping cart system is designed to automate item detection and billing in retail environments.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system uses an ESP8266 microcontroller along with an RC522 RFID reader to scan RFID-tagged products.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Scanned item details such as name, price, and wallet balance are displayed on an OLED screen.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A running list of purchased items is maintained for accurate and transparent billing.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Blynk application enables remote monitoring and access to shopping data.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This system reduces manual effort, minimizes checkout queues, and supports a smart cashless shopping experience.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5796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ontent Placeholder 5"/>
          <p:cNvSpPr/>
          <p:nvPr/>
        </p:nvSpPr>
        <p:spPr>
          <a:xfrm>
            <a:off x="746280" y="1600200"/>
            <a:ext cx="1129680" cy="748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RFID TAG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Arrow: Right 3"/>
          <p:cNvSpPr/>
          <p:nvPr/>
        </p:nvSpPr>
        <p:spPr>
          <a:xfrm>
            <a:off x="1901880" y="1836000"/>
            <a:ext cx="823320" cy="27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: Rounded Corners 2"/>
          <p:cNvSpPr/>
          <p:nvPr/>
        </p:nvSpPr>
        <p:spPr>
          <a:xfrm>
            <a:off x="2725560" y="1623960"/>
            <a:ext cx="1072440" cy="746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RFID reader module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: Rounded Corners 3"/>
          <p:cNvSpPr/>
          <p:nvPr/>
        </p:nvSpPr>
        <p:spPr>
          <a:xfrm>
            <a:off x="4870800" y="3200400"/>
            <a:ext cx="1072440" cy="493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OLED DISPLAY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: Rounded Corners 4"/>
          <p:cNvSpPr/>
          <p:nvPr/>
        </p:nvSpPr>
        <p:spPr>
          <a:xfrm>
            <a:off x="4880160" y="1600200"/>
            <a:ext cx="1063080" cy="9140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ESP8266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Arrow: Right 5"/>
          <p:cNvSpPr/>
          <p:nvPr/>
        </p:nvSpPr>
        <p:spPr>
          <a:xfrm>
            <a:off x="5943600" y="1911600"/>
            <a:ext cx="114264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Arrow: Right 6"/>
          <p:cNvSpPr/>
          <p:nvPr/>
        </p:nvSpPr>
        <p:spPr>
          <a:xfrm>
            <a:off x="3816000" y="1864800"/>
            <a:ext cx="106380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: Rounded Corners 1"/>
          <p:cNvSpPr/>
          <p:nvPr/>
        </p:nvSpPr>
        <p:spPr>
          <a:xfrm>
            <a:off x="7086600" y="1600200"/>
            <a:ext cx="1072440" cy="9140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WIFI MOBILE APP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5257800" y="2514600"/>
            <a:ext cx="228240" cy="68544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2a60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64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3.CIRCUIT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2571120" y="1143000"/>
            <a:ext cx="4057920" cy="342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888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393840" y="874440"/>
            <a:ext cx="8355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ESP8266 microcontroller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RC522 RFID reader module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RFID tags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OLED display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Blynk mobile application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Power supply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Connecting wires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Breadboard or PCB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6. CONCLUSION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selected projects demonstrate the practical application of electronics, embedded systems, and automation concepts.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Each project focuses on solving real-world problems using cost-effective and efficient technological solutions.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frequency generator emphasizes core analog electronics and signal generation fundamentals.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smart irrigation system highlights sensor-based automation and sustainable resource management.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smart shopping cart showcases the integration of IoT and embedded systems for smart retail solutions.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Together, these projects reflect a balanced understanding of analog, digital, and IoT-based system design.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ftr" idx="47"/>
          </p:nvPr>
        </p:nvSpPr>
        <p:spPr>
          <a:xfrm>
            <a:off x="2214720" y="4781520"/>
            <a:ext cx="45284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E0E949-0DD7-43EE-8D0F-6F8603651378}" type="slidenum">
              <a:t>19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05A8681E-F328-482F-8CE8-B80A70EF4C25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7. REFERENCES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Sedra, A. S., &amp; Smith, K. C., Microelectronic Circuits, Oxford University Press – Reference for analog oscillators and frequency generator concepts.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Banzi, M., &amp; Shiloh, M., Getting Started with Arduino, Maker Media – Reference for Arduino-based smart irrigation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Kumar, S., &amp; Pande, R., “RFID Based Smart Shopping Cart System,” International Journal of Engineering Research and Technology (IJERT) – Reference for RFID and IoT-enabled shopping cart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ftr" idx="48"/>
          </p:nvPr>
        </p:nvSpPr>
        <p:spPr>
          <a:xfrm>
            <a:off x="2428920" y="4781520"/>
            <a:ext cx="4385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726936-62A5-4ACE-9E1A-A28A5FBE33B3}" type="slidenum">
              <a:t>20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1A49EBEF-4043-4DFD-BBF7-569C363828E2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ftr" idx="49"/>
          </p:nvPr>
        </p:nvSpPr>
        <p:spPr>
          <a:xfrm>
            <a:off x="2643120" y="4788360"/>
            <a:ext cx="4288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1251720" y="2038320"/>
            <a:ext cx="61714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THANK YOU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6F0BB1-C471-44F4-9CDC-ABC5144082E8}" type="slidenum">
              <a:t>21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26EC2AF4-C37D-469F-A244-474229524D97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Application>LibreOffice/25.8.3.2$Linux_X86_64 LibreOffice_project/5ee70f9e60a556cf41458d71cbfa54885591385a</Application>
  <AppVersion>15.0000</AppVersion>
  <Words>845</Words>
  <Paragraphs>154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dc:description/>
  <dc:language>en-US</dc:language>
  <cp:lastModifiedBy/>
  <dcterms:modified xsi:type="dcterms:W3CDTF">2025-12-14T22:26:23Z</dcterms:modified>
  <cp:revision>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