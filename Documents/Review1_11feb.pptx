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" charset="1" panose="02020603050405020304"/>
      <p:regular r:id="rId24"/>
    </p:embeddedFont>
    <p:embeddedFont>
      <p:font typeface="Calibri (MS)" charset="1" panose="020F0502020204030204"/>
      <p:regular r:id="rId25"/>
    </p:embeddedFont>
    <p:embeddedFont>
      <p:font typeface="Times New Roman Bold" charset="1" panose="020208030705050203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  <a:p>
            <a:r>
              <a:rPr lang="en-US"/>
              <a:t>Department Name</a:t>
            </a:r>
          </a:p>
          <a:p>
            <a:r>
              <a:rPr lang="en-US"/>
              <a:t>Project /Seminar Code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304" y="6308779"/>
            <a:ext cx="6675149" cy="241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</a:p>
          <a:p>
            <a:pPr algn="l">
              <a:lnSpc>
                <a:spcPts val="4838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Prof.  Teena Abraham</a:t>
            </a:r>
          </a:p>
          <a:p>
            <a:pPr algn="l">
              <a:lnSpc>
                <a:spcPts val="4838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Assistant Professor</a:t>
            </a:r>
          </a:p>
          <a:p>
            <a:pPr algn="l">
              <a:lnSpc>
                <a:spcPts val="4838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ECE Department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802"/>
            <a:chOff x="0" y="0"/>
            <a:chExt cx="5689600" cy="730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689600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4318" y="404870"/>
            <a:ext cx="1892960" cy="1676400"/>
            <a:chOff x="0" y="0"/>
            <a:chExt cx="2523947" cy="2235200"/>
          </a:xfrm>
        </p:grpSpPr>
        <p:sp>
          <p:nvSpPr>
            <p:cNvPr name="Freeform 8" id="8" descr="C:\Users\Admin\Desktop\ECL 201\MBITS LOGO.png"/>
            <p:cNvSpPr/>
            <p:nvPr/>
          </p:nvSpPr>
          <p:spPr>
            <a:xfrm flipH="false" flipV="false" rot="0">
              <a:off x="0" y="0"/>
              <a:ext cx="2523998" cy="2235200"/>
            </a:xfrm>
            <a:custGeom>
              <a:avLst/>
              <a:gdLst/>
              <a:ahLst/>
              <a:cxnLst/>
              <a:rect r="r" b="b" t="t" l="l"/>
              <a:pathLst>
                <a:path h="2235200" w="2523998">
                  <a:moveTo>
                    <a:pt x="0" y="0"/>
                  </a:moveTo>
                  <a:lnTo>
                    <a:pt x="2523998" y="0"/>
                  </a:lnTo>
                  <a:lnTo>
                    <a:pt x="2523998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1241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89804" y="6223054"/>
            <a:ext cx="9431854" cy="284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S6 ECE</a:t>
            </a:r>
          </a:p>
          <a:p>
            <a:pPr algn="l">
              <a:lnSpc>
                <a:spcPts val="5711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Jesald Tony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(MBI23EC015)</a:t>
            </a:r>
          </a:p>
          <a:p>
            <a:pPr algn="l">
              <a:lnSpc>
                <a:spcPts val="5711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Richard S Areckal (MBI22EC0)</a:t>
            </a:r>
          </a:p>
          <a:p>
            <a:pPr algn="l">
              <a:lnSpc>
                <a:spcPts val="5711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Sreejith VB (MBI22EC0)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883126" y="-1660789"/>
            <a:ext cx="5286985" cy="5943600"/>
            <a:chOff x="0" y="0"/>
            <a:chExt cx="7049313" cy="792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9262" cy="7924800"/>
            </a:xfrm>
            <a:custGeom>
              <a:avLst/>
              <a:gdLst/>
              <a:ahLst/>
              <a:cxnLst/>
              <a:rect r="r" b="b" t="t" l="l"/>
              <a:pathLst>
                <a:path h="7924800" w="7049262">
                  <a:moveTo>
                    <a:pt x="0" y="0"/>
                  </a:moveTo>
                  <a:lnTo>
                    <a:pt x="7049262" y="0"/>
                  </a:lnTo>
                  <a:lnTo>
                    <a:pt x="7049262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37304" y="625926"/>
            <a:ext cx="14021552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 BASELIOS INSTITUTE OF TECHNOLOGY AND SCIENCE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7200" y="9563100"/>
            <a:ext cx="4267200" cy="547802"/>
            <a:chOff x="0" y="0"/>
            <a:chExt cx="5689600" cy="730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13/05/25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96000" y="9563100"/>
            <a:ext cx="5791200" cy="571795"/>
            <a:chOff x="0" y="0"/>
            <a:chExt cx="7721600" cy="7623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21600" cy="762400"/>
            </a:xfrm>
            <a:custGeom>
              <a:avLst/>
              <a:gdLst/>
              <a:ahLst/>
              <a:cxnLst/>
              <a:rect r="r" b="b" t="t" l="l"/>
              <a:pathLst>
                <a:path h="76240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62400"/>
                  </a:lnTo>
                  <a:lnTo>
                    <a:pt x="0" y="762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345" r="0" b="-14734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721600" cy="790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89898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ECD 334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527" y="1826628"/>
            <a:ext cx="1475234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ELECTRONICS AND COMMUNICATION ENGINEERING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MINIPROJECT FIRST REVIEW ON THE TOPIC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3426" y="4707150"/>
            <a:ext cx="1658114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MEASURING TAPE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20099" y="120939"/>
            <a:ext cx="10447801" cy="1187996"/>
            <a:chOff x="0" y="0"/>
            <a:chExt cx="13930401" cy="15839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30401" cy="1584000"/>
            </a:xfrm>
            <a:custGeom>
              <a:avLst/>
              <a:gdLst/>
              <a:ahLst/>
              <a:cxnLst/>
              <a:rect r="r" b="b" t="t" l="l"/>
              <a:pathLst>
                <a:path h="1584000" w="13930401">
                  <a:moveTo>
                    <a:pt x="0" y="0"/>
                  </a:moveTo>
                  <a:lnTo>
                    <a:pt x="13930401" y="0"/>
                  </a:lnTo>
                  <a:lnTo>
                    <a:pt x="13930401" y="1584000"/>
                  </a:lnTo>
                  <a:lnTo>
                    <a:pt x="0" y="158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360" r="0" b="-12135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930401" cy="1612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b="true" sz="6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OUTLINE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226" y="1590675"/>
            <a:ext cx="16733549" cy="70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1. Introduction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2. Literature review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3. Objective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4. Design and Simulation Results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5. Block Diagram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6. Budget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7. Work Plan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8. Advantages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9.Future Scope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10.Conclusion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11.References</a:t>
            </a:r>
          </a:p>
          <a:p>
            <a:pPr algn="l">
              <a:lnSpc>
                <a:spcPts val="76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803"/>
            <a:chOff x="0" y="0"/>
            <a:chExt cx="5689600" cy="7384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400"/>
            </a:xfrm>
            <a:custGeom>
              <a:avLst/>
              <a:gdLst/>
              <a:ahLst/>
              <a:cxnLst/>
              <a:rect r="r" b="b" t="t" l="l"/>
              <a:pathLst>
                <a:path h="738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400"/>
                  </a:lnTo>
                  <a:lnTo>
                    <a:pt x="0" y="7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38" r="0" b="-10013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23517" y="9534525"/>
            <a:ext cx="8857202" cy="547802"/>
            <a:chOff x="0" y="0"/>
            <a:chExt cx="11809603" cy="730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0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11809600">
                  <a:moveTo>
                    <a:pt x="0" y="0"/>
                  </a:moveTo>
                  <a:lnTo>
                    <a:pt x="11809600" y="0"/>
                  </a:lnTo>
                  <a:lnTo>
                    <a:pt x="1180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047" r="0" b="-2650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09603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802"/>
            <a:chOff x="0" y="0"/>
            <a:chExt cx="5689600" cy="730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71800" y="294065"/>
            <a:ext cx="12344400" cy="1469269"/>
            <a:chOff x="0" y="0"/>
            <a:chExt cx="16459200" cy="19590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9200" cy="1959024"/>
            </a:xfrm>
            <a:custGeom>
              <a:avLst/>
              <a:gdLst/>
              <a:ahLst/>
              <a:cxnLst/>
              <a:rect r="r" b="b" t="t" l="l"/>
              <a:pathLst>
                <a:path h="195902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959024"/>
                  </a:lnTo>
                  <a:lnTo>
                    <a:pt x="0" y="19590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708" r="0" b="-11370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459200" cy="1987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INTRODUCTION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455621"/>
            <a:ext cx="16230600" cy="52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919" indent="-437959" lvl="1">
              <a:lnSpc>
                <a:spcPts val="5227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measuring tape is an electronic device used to measure linear distance accurately using sensors and a microcontroller.</a:t>
            </a:r>
          </a:p>
          <a:p>
            <a:pPr algn="l" marL="875919" indent="-437960" lvl="1">
              <a:lnSpc>
                <a:spcPts val="5227"/>
              </a:lnSpc>
              <a:buFont typeface="Arial"/>
              <a:buChar char="•"/>
            </a:pPr>
            <a:r>
              <a:rPr lang="en-US" sz="3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uses an Arduino Nano and a rotary encoder to convert wheel rotation into digital distance values.</a:t>
            </a:r>
          </a:p>
          <a:p>
            <a:pPr algn="l" marL="875919" indent="-437959" lvl="1">
              <a:lnSpc>
                <a:spcPts val="5227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measured distance is calculated electronically and displayed in real-time on a 16×2 LCD screen.</a:t>
            </a:r>
          </a:p>
          <a:p>
            <a:pPr algn="l" marL="875919" indent="-437959" lvl="1">
              <a:lnSpc>
                <a:spcPts val="5227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demonstrates a practical application of embedded systems in measurement and automation.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31531" y="9534525"/>
            <a:ext cx="9721082" cy="547688"/>
            <a:chOff x="0" y="0"/>
            <a:chExt cx="12961442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61440" cy="730251"/>
            </a:xfrm>
            <a:custGeom>
              <a:avLst/>
              <a:gdLst/>
              <a:ahLst/>
              <a:cxnLst/>
              <a:rect r="r" b="b" t="t" l="l"/>
              <a:pathLst>
                <a:path h="730251" w="12961440">
                  <a:moveTo>
                    <a:pt x="0" y="0"/>
                  </a:moveTo>
                  <a:lnTo>
                    <a:pt x="12961440" y="0"/>
                  </a:lnTo>
                  <a:lnTo>
                    <a:pt x="1296144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5845" r="0" b="-2958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61442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171450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400300"/>
          <a:ext cx="16535400" cy="5567362"/>
        </p:xfrm>
        <a:graphic>
          <a:graphicData uri="http://schemas.openxmlformats.org/drawingml/2006/table">
            <a:tbl>
              <a:tblPr/>
              <a:tblGrid>
                <a:gridCol w="1801898"/>
                <a:gridCol w="3683375"/>
                <a:gridCol w="3683375"/>
                <a:gridCol w="3683375"/>
                <a:gridCol w="3683375"/>
              </a:tblGrid>
              <a:tr h="13251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SL.NO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TOPIC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 OF PUBLICATION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42422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Measuring Tape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P. Sabarinath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escribes the design and working of a digital measuring tape using a microcontroller and rotary encoder to measure distance electronically.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ECQ 413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51421"/>
            <a:ext cx="16459200" cy="2160241"/>
            <a:chOff x="0" y="0"/>
            <a:chExt cx="21945600" cy="28803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880320"/>
            </a:xfrm>
            <a:custGeom>
              <a:avLst/>
              <a:gdLst/>
              <a:ahLst/>
              <a:cxnLst/>
              <a:rect r="r" b="b" t="t" l="l"/>
              <a:pathLst>
                <a:path h="28803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880320"/>
                  </a:lnTo>
                  <a:lnTo>
                    <a:pt x="0" y="288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9" r="0" b="-9845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908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1787525"/>
          <a:ext cx="16510000" cy="7747000"/>
        </p:xfrm>
        <a:graphic>
          <a:graphicData uri="http://schemas.openxmlformats.org/drawingml/2006/table">
            <a:tbl>
              <a:tblPr/>
              <a:tblGrid>
                <a:gridCol w="3302000"/>
                <a:gridCol w="3302000"/>
                <a:gridCol w="3302000"/>
                <a:gridCol w="3302000"/>
                <a:gridCol w="3302000"/>
              </a:tblGrid>
              <a:tr h="931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SL.NO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TOPIC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 OF PUBLICATION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6815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Tape Measure Using Rotary Encoder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Forum Community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iscusses technical challenges and solutions in decoding encoder pulses for accurate distance measurement using Arduino.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296000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71550" y="2097881"/>
            <a:ext cx="1628775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accessibility to quick and accurate distance measurement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convenient and error-free digital measurement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ease of use with real-time visual display</a:t>
            </a:r>
          </a:p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awareness of modern digital measurement techniques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264647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BLOCK DIAGRAM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493371" y="1979147"/>
            <a:ext cx="11301259" cy="6328705"/>
          </a:xfrm>
          <a:custGeom>
            <a:avLst/>
            <a:gdLst/>
            <a:ahLst/>
            <a:cxnLst/>
            <a:rect r="r" b="b" t="t" l="l"/>
            <a:pathLst>
              <a:path h="6328705" w="11301259">
                <a:moveTo>
                  <a:pt x="0" y="0"/>
                </a:moveTo>
                <a:lnTo>
                  <a:pt x="11301258" y="0"/>
                </a:lnTo>
                <a:lnTo>
                  <a:pt x="11301258" y="6328706"/>
                </a:lnTo>
                <a:lnTo>
                  <a:pt x="0" y="632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42900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DESIGN AND SIMULATION RESULTS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92511" y="2400300"/>
            <a:ext cx="12702969" cy="6788153"/>
            <a:chOff x="0" y="0"/>
            <a:chExt cx="16937292" cy="9050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37355" cy="9050909"/>
            </a:xfrm>
            <a:custGeom>
              <a:avLst/>
              <a:gdLst/>
              <a:ahLst/>
              <a:cxnLst/>
              <a:rect r="r" b="b" t="t" l="l"/>
              <a:pathLst>
                <a:path h="9050909" w="16937355">
                  <a:moveTo>
                    <a:pt x="0" y="0"/>
                  </a:moveTo>
                  <a:lnTo>
                    <a:pt x="16937355" y="0"/>
                  </a:lnTo>
                  <a:lnTo>
                    <a:pt x="16937355" y="9050909"/>
                  </a:lnTo>
                  <a:lnTo>
                    <a:pt x="0" y="9050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6" t="0" r="-32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411956"/>
            <a:ext cx="16459200" cy="1714795"/>
            <a:chOff x="0" y="0"/>
            <a:chExt cx="21945600" cy="22863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400"/>
            </a:xfrm>
            <a:custGeom>
              <a:avLst/>
              <a:gdLst/>
              <a:ahLst/>
              <a:cxnLst/>
              <a:rect r="r" b="b" t="t" l="l"/>
              <a:pathLst>
                <a:path h="2286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400"/>
                  </a:lnTo>
                  <a:lnTo>
                    <a:pt x="0" y="2286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23" r="0" b="-13702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2324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BUDGET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800"/>
            <a:chOff x="0" y="0"/>
            <a:chExt cx="5689600" cy="73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398"/>
            </a:xfrm>
            <a:custGeom>
              <a:avLst/>
              <a:gdLst/>
              <a:ahLst/>
              <a:cxnLst/>
              <a:rect r="r" b="b" t="t" l="l"/>
              <a:pathLst>
                <a:path h="730398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398"/>
                  </a:lnTo>
                  <a:lnTo>
                    <a:pt x="0" y="7303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89600" cy="76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1741833" y="2314575"/>
          <a:ext cx="3771900" cy="5657850"/>
        </p:xfrm>
        <a:graphic>
          <a:graphicData uri="http://schemas.openxmlformats.org/presentationml/2006/ole">
            <p:oleObj imgW="4902200" imgH="67818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722336" y="1755277"/>
            <a:ext cx="240327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 : Work plan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944757" y="2597873"/>
          <a:ext cx="14574112" cy="6700838"/>
        </p:xfrm>
        <a:graphic>
          <a:graphicData uri="http://schemas.openxmlformats.org/drawingml/2006/table">
            <a:tbl>
              <a:tblPr/>
              <a:tblGrid>
                <a:gridCol w="4858037"/>
                <a:gridCol w="4907301"/>
                <a:gridCol w="4808774"/>
              </a:tblGrid>
              <a:tr h="65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DATE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 DONE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 TO BE DONE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07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/12/2025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Decided the project topic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_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</a:tr>
              <a:tr h="65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15/12/2025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Submitted abstract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</a:tr>
              <a:tr h="107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/12/2025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Conducted zeroth review presentation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</a:tr>
              <a:tr h="1496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/01/2026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Partially 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 the simulation part  using Arduino IDE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</a:tr>
              <a:tr h="107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05/02/2026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 the simulation part using Arduino IDE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</a:tr>
              <a:tr h="65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/02/2026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review presentation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494238" y="1788882"/>
            <a:ext cx="5089798" cy="657000"/>
            <a:chOff x="0" y="0"/>
            <a:chExt cx="6786397" cy="87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86400" cy="876005"/>
            </a:xfrm>
            <a:custGeom>
              <a:avLst/>
              <a:gdLst/>
              <a:ahLst/>
              <a:cxnLst/>
              <a:rect r="r" b="b" t="t" l="l"/>
              <a:pathLst>
                <a:path h="876005" w="6786400">
                  <a:moveTo>
                    <a:pt x="0" y="0"/>
                  </a:moveTo>
                  <a:lnTo>
                    <a:pt x="6786400" y="0"/>
                  </a:lnTo>
                  <a:lnTo>
                    <a:pt x="6786400" y="876005"/>
                  </a:lnTo>
                  <a:lnTo>
                    <a:pt x="0" y="876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950" r="0" b="-100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786397" cy="88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Table 2 : Work plan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1119803" cy="10287000"/>
          </a:xfrm>
          <a:custGeom>
            <a:avLst/>
            <a:gdLst/>
            <a:ahLst/>
            <a:cxnLst/>
            <a:rect r="r" b="b" t="t" l="l"/>
            <a:pathLst>
              <a:path h="10287000" w="1119803">
                <a:moveTo>
                  <a:pt x="0" y="0"/>
                </a:moveTo>
                <a:lnTo>
                  <a:pt x="1119803" y="0"/>
                </a:lnTo>
                <a:lnTo>
                  <a:pt x="11198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1198" y="48626"/>
            <a:ext cx="16185604" cy="158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47"/>
              </a:lnSpc>
            </a:pPr>
            <a:r>
              <a:rPr lang="en-US" b="true" sz="8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 PLAN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411956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ADVANTAGES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029075"/>
            <a:ext cx="16230600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93" indent="-441347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</a:t>
            </a: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ccurate and real-time digital distance measurement</a:t>
            </a:r>
          </a:p>
          <a:p>
            <a:pPr algn="l" marL="882693" indent="-441347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Compact, portable, and easy to use</a:t>
            </a:r>
          </a:p>
          <a:p>
            <a:pPr algn="l" marL="883158" indent="-441579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and simple circuit design</a:t>
            </a:r>
          </a:p>
          <a:p>
            <a:pPr algn="l" marL="882693" indent="-441347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learning embedded systems and sensor interfacing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411956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SCOPE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400300"/>
            <a:ext cx="162306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reless data transmission using Bluetooth or Wi-Fi</a:t>
            </a:r>
          </a:p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measured data using memory modules or SD card</a:t>
            </a:r>
          </a:p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mobile applications for visualization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accuracy using higher resolution encoders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411956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CONCLUSION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5840" y="2217420"/>
            <a:ext cx="16253460" cy="569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8680" indent="-434340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measuring tape successfully measures distance accurately using a rotary encoder and Arduino Nano.</a:t>
            </a:r>
          </a:p>
          <a:p>
            <a:pPr algn="just" marL="868680" indent="-434340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effective conversion of mechanical motion into digital data with real-time display.</a:t>
            </a:r>
          </a:p>
          <a:p>
            <a:pPr algn="just" marL="777240" indent="-388620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serves as a simple and reliable learning platform for embedded systems and automation concepts.</a:t>
            </a:r>
          </a:p>
          <a:p>
            <a:pPr algn="just">
              <a:lnSpc>
                <a:spcPts val="658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411956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38049" y="2243785"/>
            <a:ext cx="15535551" cy="53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3158" indent="-441579" lvl="1">
              <a:lnSpc>
                <a:spcPts val="7173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P. Sabarinath, “Digital Measuring Tape,” ElectronicWings, Dec. 13, 2021.</a:t>
            </a:r>
          </a:p>
          <a:p>
            <a:pPr algn="just" marL="883158" indent="-441579" lvl="1">
              <a:lnSpc>
                <a:spcPts val="7173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J. Craftsman, “How to Make a Digital Tape Measure: Step-by-Step Guide (Arduino + 3D Print),” YouTube, Apr. 2023.</a:t>
            </a:r>
          </a:p>
          <a:p>
            <a:pPr algn="just" marL="790194" indent="-395097" lvl="1">
              <a:lnSpc>
                <a:spcPts val="7173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Arduino Forum, “Digital Tape Measure – Decoding Serial Data,” Arduino.cc, Dec. 14, 2024.</a:t>
            </a:r>
          </a:p>
          <a:p>
            <a:pPr algn="just" marL="883158" indent="-441579" lvl="1">
              <a:lnSpc>
                <a:spcPts val="717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6403" y="9576749"/>
            <a:ext cx="4267200" cy="547688"/>
            <a:chOff x="0" y="0"/>
            <a:chExt cx="5689600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96000" y="9563100"/>
            <a:ext cx="5791200" cy="547688"/>
            <a:chOff x="0" y="0"/>
            <a:chExt cx="7721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94543" y="4084320"/>
            <a:ext cx="12161520" cy="123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DAHA2HzXDRs</dc:identifier>
  <dcterms:modified xsi:type="dcterms:W3CDTF">2011-08-01T06:04:30Z</dcterms:modified>
  <cp:revision>1</cp:revision>
  <dc:title>Review1.pptx</dc:title>
</cp:coreProperties>
</file>