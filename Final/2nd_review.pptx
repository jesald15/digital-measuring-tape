
<file path=[Content_Types].xml><?xml version="1.0" encoding="utf-8"?>
<Types xmlns="http://schemas.openxmlformats.org/package/2006/content-types">
  <Default Extension="xml" ContentType="application/xml"/>
  <Default Extension="mp4" ContentType="video/unknown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900100096" y="0"/>
      </p:cViewPr>
      <p:guideLst>
        <p:guide pos="5760"/>
        <p:guide pos="324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236581" name="PlaceHolder 1"/>
          <p:cNvSpPr>
            <a:spLocks noGrp="1"/>
          </p:cNvSpPr>
          <p:nvPr>
            <p:ph type="sldImg"/>
          </p:nvPr>
        </p:nvSpPr>
        <p:spPr bwMode="auto"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2209969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906345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552236025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361881776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722333819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A86BB0EA-1E27-4021-A1DA-8D16361FE706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1" ftr="1" hdr="1" sldNum="1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524101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542556226" name="PlaceHolder 2"/>
          <p:cNvSpPr>
            <a:spLocks noGrp="1"/>
          </p:cNvSpPr>
          <p:nvPr>
            <p:ph type="dt" idx="37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495501205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727111578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Department Name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Project /Seminar Code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045415" name="PlaceHolder 5"/>
          <p:cNvSpPr>
            <a:spLocks noGrp="1"/>
          </p:cNvSpPr>
          <p:nvPr>
            <p:ph type="ftr" idx="38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257054" name="PlaceHolder 6"/>
          <p:cNvSpPr>
            <a:spLocks noGrp="1"/>
          </p:cNvSpPr>
          <p:nvPr>
            <p:ph type="sldNum" idx="39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413054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285188505" name="PlaceHolder 2"/>
          <p:cNvSpPr>
            <a:spLocks noGrp="1"/>
          </p:cNvSpPr>
          <p:nvPr>
            <p:ph type="dt" idx="40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327708458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428809199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799564" name="PlaceHolder 5"/>
          <p:cNvSpPr>
            <a:spLocks noGrp="1"/>
          </p:cNvSpPr>
          <p:nvPr>
            <p:ph type="ftr" idx="41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283521" name="PlaceHolder 6"/>
          <p:cNvSpPr>
            <a:spLocks noGrp="1"/>
          </p:cNvSpPr>
          <p:nvPr>
            <p:ph type="sldNum" idx="42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963235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1450287194" name="PlaceHolder 2"/>
          <p:cNvSpPr>
            <a:spLocks noGrp="1"/>
          </p:cNvSpPr>
          <p:nvPr>
            <p:ph type="dt" idx="43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370400282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285954895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67476" name="PlaceHolder 5"/>
          <p:cNvSpPr>
            <a:spLocks noGrp="1"/>
          </p:cNvSpPr>
          <p:nvPr>
            <p:ph type="ftr" idx="44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015073" name="PlaceHolder 6"/>
          <p:cNvSpPr>
            <a:spLocks noGrp="1"/>
          </p:cNvSpPr>
          <p:nvPr>
            <p:ph type="sldNum" idx="45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939220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866470945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999108449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606019430" name="PlaceHolder 1"/>
          <p:cNvSpPr>
            <a:spLocks noGrp="1"/>
          </p:cNvSpPr>
          <p:nvPr>
            <p:ph type="sldImg"/>
          </p:nvPr>
        </p:nvSpPr>
        <p:spPr bwMode="auto"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793597876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5952714" name="PlaceHolder 3"/>
          <p:cNvSpPr>
            <a:spLocks noGrp="1"/>
          </p:cNvSpPr>
          <p:nvPr>
            <p:ph type="sldNum" idx="46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7D7F2F9-7601-4A74-9A16-323691CF2767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914957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373818292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354509681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850119224" name="PlaceHolder 1"/>
          <p:cNvSpPr>
            <a:spLocks noGrp="1"/>
          </p:cNvSpPr>
          <p:nvPr>
            <p:ph type="sldImg"/>
          </p:nvPr>
        </p:nvSpPr>
        <p:spPr bwMode="auto"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2144073951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162338" name="PlaceHolder 3"/>
          <p:cNvSpPr>
            <a:spLocks noGrp="1"/>
          </p:cNvSpPr>
          <p:nvPr>
            <p:ph type="sldNum" idx="47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D3262DC-E81B-40E8-AD89-A932213275D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897528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2143745913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880529967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86464763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598192533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097847" name="PlaceHolder 3"/>
          <p:cNvSpPr>
            <a:spLocks noGrp="1"/>
          </p:cNvSpPr>
          <p:nvPr>
            <p:ph type="sldNum" idx="48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873DEAF-D890-45DB-90FC-9F9404F5723D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851121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642401315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987453629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718233025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9305294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494207" name="PlaceHolder 3"/>
          <p:cNvSpPr>
            <a:spLocks noGrp="1"/>
          </p:cNvSpPr>
          <p:nvPr>
            <p:ph type="sldNum" idx="49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88CAAB9-C4EE-4F61-9662-B15D2A80F966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754966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508096232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506641936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442000055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432608745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532414" name="PlaceHolder 3"/>
          <p:cNvSpPr>
            <a:spLocks noGrp="1"/>
          </p:cNvSpPr>
          <p:nvPr>
            <p:ph type="sldNum" idx="50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8158ED7-1378-41BB-9001-0EED529A7EC1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43193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110853195" name="PlaceHolder 2"/>
          <p:cNvSpPr>
            <a:spLocks noGrp="1"/>
          </p:cNvSpPr>
          <p:nvPr>
            <p:ph type="dt" idx="51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205000251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78481795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‹#›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9672420" name="PlaceHolder 5"/>
          <p:cNvSpPr>
            <a:spLocks noGrp="1"/>
          </p:cNvSpPr>
          <p:nvPr>
            <p:ph type="ftr" idx="52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9458342" name="PlaceHolder 6"/>
          <p:cNvSpPr>
            <a:spLocks noGrp="1"/>
          </p:cNvSpPr>
          <p:nvPr>
            <p:ph type="sldNum" idx="53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115672" name="PlaceHolder 1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chemeClr val="dk1"/>
              </a:solidFill>
              <a:latin typeface="+mn-lt"/>
            </a:endParaRPr>
          </a:p>
        </p:txBody>
      </p:sp>
      <p:sp>
        <p:nvSpPr>
          <p:cNvPr id="1957000082" name="PlaceHolder 2"/>
          <p:cNvSpPr>
            <a:spLocks noGrp="1"/>
          </p:cNvSpPr>
          <p:nvPr>
            <p:ph type="dt" idx="54"/>
          </p:nvPr>
        </p:nvSpPr>
        <p:spPr bwMode="auto">
          <a:xfrm>
            <a:off x="5180039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873047642" name="PlaceHolder 3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54181191" name="PlaceHolder 4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599805" name="PlaceHolder 5"/>
          <p:cNvSpPr>
            <a:spLocks noGrp="1"/>
          </p:cNvSpPr>
          <p:nvPr>
            <p:ph type="ftr" idx="55"/>
          </p:nvPr>
        </p:nvSpPr>
        <p:spPr bwMode="auto"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518188" name="PlaceHolder 6"/>
          <p:cNvSpPr>
            <a:spLocks noGrp="1"/>
          </p:cNvSpPr>
          <p:nvPr>
            <p:ph type="sldNum" idx="56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r>
              <a:rPr lang="cs-CZ" sz="1200" b="0" u="none" strike="noStrike">
                <a:solidFill>
                  <a:srgbClr val="000000"/>
                </a:solidFill>
                <a:latin typeface="Times New Roman"/>
              </a:rPr>
              <a:t>‹#›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775973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465576600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371860605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244116515" name="PlaceHolder 1"/>
          <p:cNvSpPr>
            <a:spLocks noGrp="1"/>
          </p:cNvSpPr>
          <p:nvPr>
            <p:ph type="sldImg"/>
          </p:nvPr>
        </p:nvSpPr>
        <p:spPr bwMode="auto"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867942829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732903" name="PlaceHolder 3"/>
          <p:cNvSpPr>
            <a:spLocks noGrp="1"/>
          </p:cNvSpPr>
          <p:nvPr>
            <p:ph type="sldNum" idx="57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CFBDCF0-730A-4E0B-B5E7-FE95223C3B85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481763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540506811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345083652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286503683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245140768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595463" name="PlaceHolder 3"/>
          <p:cNvSpPr>
            <a:spLocks noGrp="1"/>
          </p:cNvSpPr>
          <p:nvPr>
            <p:ph type="sldNum" idx="58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472FC8B-AB6A-403A-A2E6-D9A0105F48B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23072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863277754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310385062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383279575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606286411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083830" name="PlaceHolder 3"/>
          <p:cNvSpPr>
            <a:spLocks noGrp="1"/>
          </p:cNvSpPr>
          <p:nvPr>
            <p:ph type="sldNum" idx="59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B7C8BB9-EC49-4D44-82E7-F19FB72D4763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278837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25454877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1775378312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954086361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42384771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3012577" name="PlaceHolder 3"/>
          <p:cNvSpPr>
            <a:spLocks noGrp="1"/>
          </p:cNvSpPr>
          <p:nvPr>
            <p:ph type="sldNum" idx="60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985FB29-15E9-4B58-9879-E2378CBCD571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747287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266287310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980964625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957441169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750678080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7865435" name="PlaceHolder 3"/>
          <p:cNvSpPr>
            <a:spLocks noGrp="1"/>
          </p:cNvSpPr>
          <p:nvPr>
            <p:ph type="sldNum" idx="61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C26328B-AE15-424A-B28A-610270BB3B4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611479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r>
              <a:rPr/>
              <a:t>1.7.2013</a:t>
            </a:r>
            <a:endParaRPr/>
          </a:p>
        </p:txBody>
      </p:sp>
      <p:sp>
        <p:nvSpPr>
          <p:cNvPr id="1356305823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br>
              <a:rPr/>
            </a:br>
            <a:endParaRPr/>
          </a:p>
        </p:txBody>
      </p:sp>
      <p:sp>
        <p:nvSpPr>
          <p:cNvPr id="561793990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463419343" name="PlaceHolder 1"/>
          <p:cNvSpPr>
            <a:spLocks noGrp="1"/>
          </p:cNvSpPr>
          <p:nvPr>
            <p:ph type="sldImg"/>
          </p:nvPr>
        </p:nvSpPr>
        <p:spPr bwMode="auto"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160996047" name="PlaceHolder 2"/>
          <p:cNvSpPr>
            <a:spLocks noGrp="1"/>
          </p:cNvSpPr>
          <p:nvPr>
            <p:ph type="body"/>
          </p:nvPr>
        </p:nvSpPr>
        <p:spPr bwMode="auto"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4572737" name="PlaceHolder 3"/>
          <p:cNvSpPr>
            <a:spLocks noGrp="1"/>
          </p:cNvSpPr>
          <p:nvPr>
            <p:ph type="sldNum" idx="62"/>
          </p:nvPr>
        </p:nvSpPr>
        <p:spPr bwMode="auto">
          <a:xfrm>
            <a:off x="5180039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F39AD13-8262-4050-AC4C-C5783811DB49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797484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2130480"/>
            <a:ext cx="7772039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0901780" name="PlaceHolder 2"/>
          <p:cNvSpPr>
            <a:spLocks noGrp="1"/>
          </p:cNvSpPr>
          <p:nvPr>
            <p:ph type="dt" idx="1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31D0F683-BECF-D1B7-CB0B-F51A1467B323}" type="datetime3">
              <a:rPr lang="en-US"/>
              <a:t>25 March 2026</a:t>
            </a:fld>
            <a:endParaRPr/>
          </a:p>
        </p:txBody>
      </p:sp>
      <p:sp>
        <p:nvSpPr>
          <p:cNvPr id="1113679423" name="PlaceHolder 3"/>
          <p:cNvSpPr>
            <a:spLocks noGrp="1"/>
          </p:cNvSpPr>
          <p:nvPr>
            <p:ph type="ftr" idx="2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1857492685" name="PlaceHolder 4"/>
          <p:cNvSpPr>
            <a:spLocks noGrp="1"/>
          </p:cNvSpPr>
          <p:nvPr>
            <p:ph type="sldNum" idx="3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8B76A18-A170-4BD3-975A-5058BF4614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03628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8497164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562955" name="PlaceHolder 3"/>
          <p:cNvSpPr>
            <a:spLocks noGrp="1"/>
          </p:cNvSpPr>
          <p:nvPr>
            <p:ph type="dt" idx="4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B39ED391-454F-F0FE-3241-1CC096CF51A3}" type="datetime3">
              <a:rPr lang="en-US"/>
              <a:t>25 March 2026</a:t>
            </a:fld>
            <a:endParaRPr/>
          </a:p>
        </p:txBody>
      </p:sp>
      <p:sp>
        <p:nvSpPr>
          <p:cNvPr id="603806469" name="PlaceHolder 4"/>
          <p:cNvSpPr>
            <a:spLocks noGrp="1"/>
          </p:cNvSpPr>
          <p:nvPr>
            <p:ph type="ftr" idx="5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219112629" name="PlaceHolder 5"/>
          <p:cNvSpPr>
            <a:spLocks noGrp="1"/>
          </p:cNvSpPr>
          <p:nvPr>
            <p:ph type="sldNum" idx="6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92C235E-706B-45A2-BEC4-9F34CF9344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472600" name="PlaceHolder 1"/>
          <p:cNvSpPr>
            <a:spLocks noGrp="1"/>
          </p:cNvSpPr>
          <p:nvPr>
            <p:ph type="title"/>
          </p:nvPr>
        </p:nvSpPr>
        <p:spPr bwMode="auto"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8079629" name="PlaceHolder 2"/>
          <p:cNvSpPr>
            <a:spLocks noGrp="1"/>
          </p:cNvSpPr>
          <p:nvPr>
            <p:ph type="body"/>
          </p:nvPr>
        </p:nvSpPr>
        <p:spPr bwMode="auto"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2281333" name="PlaceHolder 3"/>
          <p:cNvSpPr>
            <a:spLocks noGrp="1"/>
          </p:cNvSpPr>
          <p:nvPr>
            <p:ph type="dt" idx="7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EBAF2118-A3B2-FF74-AB84-2F637A5ED3D2}" type="datetime3">
              <a:rPr lang="en-US"/>
              <a:t>25 March 2026</a:t>
            </a:fld>
            <a:endParaRPr/>
          </a:p>
        </p:txBody>
      </p:sp>
      <p:sp>
        <p:nvSpPr>
          <p:cNvPr id="519226716" name="PlaceHolder 4"/>
          <p:cNvSpPr>
            <a:spLocks noGrp="1"/>
          </p:cNvSpPr>
          <p:nvPr>
            <p:ph type="ftr" idx="8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443309954" name="PlaceHolder 5"/>
          <p:cNvSpPr>
            <a:spLocks noGrp="1"/>
          </p:cNvSpPr>
          <p:nvPr>
            <p:ph type="sldNum" idx="9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2676CCB-C1DF-433E-A091-7E421A0D06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07196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866204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7432960" name="PlaceHolder 3"/>
          <p:cNvSpPr>
            <a:spLocks noGrp="1"/>
          </p:cNvSpPr>
          <p:nvPr>
            <p:ph type="dt" idx="10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E5700180-8608-BC8D-833A-F18F3B3E52C3}" type="datetime3">
              <a:rPr lang="en-US"/>
              <a:t>25 March 2026</a:t>
            </a:fld>
            <a:endParaRPr/>
          </a:p>
        </p:txBody>
      </p:sp>
      <p:sp>
        <p:nvSpPr>
          <p:cNvPr id="357345329" name="PlaceHolder 4"/>
          <p:cNvSpPr>
            <a:spLocks noGrp="1"/>
          </p:cNvSpPr>
          <p:nvPr>
            <p:ph type="ftr" idx="11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255254337" name="PlaceHolder 5"/>
          <p:cNvSpPr>
            <a:spLocks noGrp="1"/>
          </p:cNvSpPr>
          <p:nvPr>
            <p:ph type="sldNum" idx="12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805CDAC-8E88-4219-87DB-CBB734DF98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759983" name="PlaceHolder 1"/>
          <p:cNvSpPr>
            <a:spLocks noGrp="1"/>
          </p:cNvSpPr>
          <p:nvPr>
            <p:ph type="title"/>
          </p:nvPr>
        </p:nvSpPr>
        <p:spPr bwMode="auto">
          <a:xfrm>
            <a:off x="722160" y="4406760"/>
            <a:ext cx="7772039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4000" b="1" u="none" strike="noStrike" cap="all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4169626" name="PlaceHolder 2"/>
          <p:cNvSpPr>
            <a:spLocks noGrp="1"/>
          </p:cNvSpPr>
          <p:nvPr>
            <p:ph type="body"/>
          </p:nvPr>
        </p:nvSpPr>
        <p:spPr bwMode="auto">
          <a:xfrm>
            <a:off x="722160" y="2906640"/>
            <a:ext cx="7772039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1743831485" name="PlaceHolder 3"/>
          <p:cNvSpPr>
            <a:spLocks noGrp="1"/>
          </p:cNvSpPr>
          <p:nvPr>
            <p:ph type="dt" idx="13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F14C3BE1-0511-F431-4DC3-CABE3BC1CC92}" type="datetime3">
              <a:rPr lang="en-US"/>
              <a:t>25 March 2026</a:t>
            </a:fld>
            <a:endParaRPr/>
          </a:p>
        </p:txBody>
      </p:sp>
      <p:sp>
        <p:nvSpPr>
          <p:cNvPr id="1499524599" name="PlaceHolder 4"/>
          <p:cNvSpPr>
            <a:spLocks noGrp="1"/>
          </p:cNvSpPr>
          <p:nvPr>
            <p:ph type="ftr" idx="14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1687667369" name="PlaceHolder 5"/>
          <p:cNvSpPr>
            <a:spLocks noGrp="1"/>
          </p:cNvSpPr>
          <p:nvPr>
            <p:ph type="sldNum" idx="15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9DA1BC0-8117-403D-9576-4BE9448C41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8204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2258323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01998543" name="PlaceHolder 3"/>
          <p:cNvSpPr>
            <a:spLocks noGrp="1"/>
          </p:cNvSpPr>
          <p:nvPr>
            <p:ph type="body"/>
          </p:nvPr>
        </p:nvSpPr>
        <p:spPr bwMode="auto"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6137583" name="PlaceHolder 4"/>
          <p:cNvSpPr>
            <a:spLocks noGrp="1"/>
          </p:cNvSpPr>
          <p:nvPr>
            <p:ph type="dt" idx="16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D921330D-92E4-5F5F-8AF1-F1D014BD4BB7}" type="datetime3">
              <a:rPr lang="en-US"/>
              <a:t>25 March 2026</a:t>
            </a:fld>
            <a:endParaRPr/>
          </a:p>
        </p:txBody>
      </p:sp>
      <p:sp>
        <p:nvSpPr>
          <p:cNvPr id="20195250" name="PlaceHolder 5"/>
          <p:cNvSpPr>
            <a:spLocks noGrp="1"/>
          </p:cNvSpPr>
          <p:nvPr>
            <p:ph type="ftr" idx="17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28931825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983159C-CF76-42BB-AFCA-AF410BB991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16943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6528018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9475767" name="PlaceHolder 3"/>
          <p:cNvSpPr>
            <a:spLocks noGrp="1"/>
          </p:cNvSpPr>
          <p:nvPr>
            <p:ph type="body"/>
          </p:nvPr>
        </p:nvSpPr>
        <p:spPr bwMode="auto"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7995946" name="PlaceHolder 4"/>
          <p:cNvSpPr>
            <a:spLocks noGrp="1"/>
          </p:cNvSpPr>
          <p:nvPr>
            <p:ph type="body"/>
          </p:nvPr>
        </p:nvSpPr>
        <p:spPr bwMode="auto"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3622899" name="PlaceHolder 5"/>
          <p:cNvSpPr>
            <a:spLocks noGrp="1"/>
          </p:cNvSpPr>
          <p:nvPr>
            <p:ph type="body"/>
          </p:nvPr>
        </p:nvSpPr>
        <p:spPr bwMode="auto"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2998915" name="PlaceHolder 6"/>
          <p:cNvSpPr>
            <a:spLocks noGrp="1"/>
          </p:cNvSpPr>
          <p:nvPr>
            <p:ph type="dt" idx="19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504E625D-6602-A843-B7AE-43584CD0D1E1}" type="datetime3">
              <a:rPr lang="en-US"/>
              <a:t>25 March 2026</a:t>
            </a:fld>
            <a:endParaRPr/>
          </a:p>
        </p:txBody>
      </p:sp>
      <p:sp>
        <p:nvSpPr>
          <p:cNvPr id="950397499" name="PlaceHolder 7"/>
          <p:cNvSpPr>
            <a:spLocks noGrp="1"/>
          </p:cNvSpPr>
          <p:nvPr>
            <p:ph type="ftr" idx="20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370046150" name="PlaceHolder 8"/>
          <p:cNvSpPr>
            <a:spLocks noGrp="1"/>
          </p:cNvSpPr>
          <p:nvPr>
            <p:ph type="sldNum" idx="21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AA47B01-1DF8-440F-B832-AF7998AED7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50067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2734046" name="PlaceHolder 2"/>
          <p:cNvSpPr>
            <a:spLocks noGrp="1"/>
          </p:cNvSpPr>
          <p:nvPr>
            <p:ph type="dt" idx="22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6AA60858-49B2-B162-414E-E45BD468135C}" type="datetime3">
              <a:rPr lang="en-US"/>
              <a:t>25 March 2026</a:t>
            </a:fld>
            <a:endParaRPr/>
          </a:p>
        </p:txBody>
      </p:sp>
      <p:sp>
        <p:nvSpPr>
          <p:cNvPr id="1478398662" name="PlaceHolder 3"/>
          <p:cNvSpPr>
            <a:spLocks noGrp="1"/>
          </p:cNvSpPr>
          <p:nvPr>
            <p:ph type="ftr" idx="23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1346629379" name="PlaceHolder 4"/>
          <p:cNvSpPr>
            <a:spLocks noGrp="1"/>
          </p:cNvSpPr>
          <p:nvPr>
            <p:ph type="sldNum" idx="24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C0A13CF-C180-4B37-9625-42530CEB0C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533310" name="PlaceHolder 1"/>
          <p:cNvSpPr>
            <a:spLocks noGrp="1"/>
          </p:cNvSpPr>
          <p:nvPr>
            <p:ph type="dt" idx="25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80EB2310-E364-5236-2466-37EB451F024E}" type="datetime3">
              <a:rPr lang="en-US"/>
              <a:t>25 March 2026</a:t>
            </a:fld>
            <a:endParaRPr/>
          </a:p>
        </p:txBody>
      </p:sp>
      <p:sp>
        <p:nvSpPr>
          <p:cNvPr id="1685185817" name="PlaceHolder 2"/>
          <p:cNvSpPr>
            <a:spLocks noGrp="1"/>
          </p:cNvSpPr>
          <p:nvPr>
            <p:ph type="ftr" idx="26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1298059209" name="PlaceHolder 3"/>
          <p:cNvSpPr>
            <a:spLocks noGrp="1"/>
          </p:cNvSpPr>
          <p:nvPr>
            <p:ph type="sldNum" idx="27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9713885-99AA-42FC-A813-D2E9E7DEA7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695185" name="PlaceHolder 4"/>
          <p:cNvSpPr>
            <a:spLocks noGrp="1"/>
          </p:cNvSpPr>
          <p:nvPr>
            <p:ph type="title"/>
          </p:nvPr>
        </p:nvSpPr>
        <p:spPr bwMode="auto"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>
              <a:buNone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3535359" name="PlaceHolder 5"/>
          <p:cNvSpPr>
            <a:spLocks noGrp="1"/>
          </p:cNvSpPr>
          <p:nvPr>
            <p:ph type="body"/>
          </p:nvPr>
        </p:nvSpPr>
        <p:spPr bwMode="auto"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6310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2000" b="1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0639740" name="PlaceHolder 2"/>
          <p:cNvSpPr>
            <a:spLocks noGrp="1"/>
          </p:cNvSpPr>
          <p:nvPr>
            <p:ph type="body"/>
          </p:nvPr>
        </p:nvSpPr>
        <p:spPr bwMode="auto"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8485172" name="PlaceHolder 3"/>
          <p:cNvSpPr>
            <a:spLocks noGrp="1"/>
          </p:cNvSpPr>
          <p:nvPr>
            <p:ph type="body"/>
          </p:nvPr>
        </p:nvSpPr>
        <p:spPr bwMode="auto"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4764548" name="PlaceHolder 4"/>
          <p:cNvSpPr>
            <a:spLocks noGrp="1"/>
          </p:cNvSpPr>
          <p:nvPr>
            <p:ph type="dt" idx="28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3521475E-92FD-C401-A70F-B5D5C416866F}" type="datetime3">
              <a:rPr lang="en-US"/>
              <a:t>25 March 2026</a:t>
            </a:fld>
            <a:endParaRPr/>
          </a:p>
        </p:txBody>
      </p:sp>
      <p:sp>
        <p:nvSpPr>
          <p:cNvPr id="247623653" name="PlaceHolder 5"/>
          <p:cNvSpPr>
            <a:spLocks noGrp="1"/>
          </p:cNvSpPr>
          <p:nvPr>
            <p:ph type="ftr" idx="29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464135235" name="PlaceHolder 6"/>
          <p:cNvSpPr>
            <a:spLocks noGrp="1"/>
          </p:cNvSpPr>
          <p:nvPr>
            <p:ph type="sldNum" idx="30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8B802C2-5707-42E2-A50E-237044F259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79987" name="PlaceHolder 1"/>
          <p:cNvSpPr>
            <a:spLocks noGrp="1"/>
          </p:cNvSpPr>
          <p:nvPr>
            <p:ph type="title"/>
          </p:nvPr>
        </p:nvSpPr>
        <p:spPr bwMode="auto">
          <a:xfrm>
            <a:off x="1792440" y="4800600"/>
            <a:ext cx="5486039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2000" b="1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27041" name="PlaceHolder 2"/>
          <p:cNvSpPr>
            <a:spLocks noGrp="1"/>
          </p:cNvSpPr>
          <p:nvPr>
            <p:ph type="body"/>
          </p:nvPr>
        </p:nvSpPr>
        <p:spPr bwMode="auto">
          <a:xfrm>
            <a:off x="1792440" y="612720"/>
            <a:ext cx="5486039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algn="l" defTabSz="914400"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457200"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914400"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1371600"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1828800"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36390623" name="PlaceHolder 3"/>
          <p:cNvSpPr>
            <a:spLocks noGrp="1"/>
          </p:cNvSpPr>
          <p:nvPr>
            <p:ph type="body"/>
          </p:nvPr>
        </p:nvSpPr>
        <p:spPr bwMode="auto">
          <a:xfrm>
            <a:off x="1792440" y="5367240"/>
            <a:ext cx="5486039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2117052" name="PlaceHolder 4"/>
          <p:cNvSpPr>
            <a:spLocks noGrp="1"/>
          </p:cNvSpPr>
          <p:nvPr>
            <p:ph type="dt" idx="31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68625247-A356-8518-51DB-8C0EC5F3BC0C}" type="datetime3">
              <a:rPr lang="en-US"/>
              <a:t>25 March 2026</a:t>
            </a:fld>
            <a:endParaRPr/>
          </a:p>
        </p:txBody>
      </p:sp>
      <p:sp>
        <p:nvSpPr>
          <p:cNvPr id="642446615" name="PlaceHolder 5"/>
          <p:cNvSpPr>
            <a:spLocks noGrp="1"/>
          </p:cNvSpPr>
          <p:nvPr>
            <p:ph type="ftr" idx="32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/>
              <a:t> ECD 334</a:t>
            </a:r>
            <a:endParaRPr/>
          </a:p>
        </p:txBody>
      </p:sp>
      <p:sp>
        <p:nvSpPr>
          <p:cNvPr id="434009917" name="PlaceHolder 6"/>
          <p:cNvSpPr>
            <a:spLocks noGrp="1"/>
          </p:cNvSpPr>
          <p:nvPr>
            <p:ph type="sldNum" idx="33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7954D1A-299A-4C40-80CE-548877FD93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microsoft.com/office/2007/relationships/media" Target="../media/media1.mp4"/><Relationship Id="rId7" Type="http://schemas.openxmlformats.org/officeDocument/2006/relationships/video" Target="../media/media1.mp4" /><Relationship Id="rId8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457839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11683" name="TextBox 3"/>
          <p:cNvSpPr/>
          <p:nvPr/>
        </p:nvSpPr>
        <p:spPr bwMode="auto">
          <a:xfrm>
            <a:off x="822240" y="6346800"/>
            <a:ext cx="6674760" cy="28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Guided by: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Prof.  Teena Abraham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Assistant Professor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Mr. Eldhose Joy, Tradesman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ECE Department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41118876" name="Group 7"/>
          <p:cNvGrpSpPr/>
          <p:nvPr/>
        </p:nvGrpSpPr>
        <p:grpSpPr bwMode="auto">
          <a:xfrm>
            <a:off x="714240" y="405000"/>
            <a:ext cx="1892520" cy="1676160"/>
            <a:chOff x="714240" y="405000"/>
            <a:chExt cx="1892520" cy="1676160"/>
          </a:xfrm>
        </p:grpSpPr>
        <p:sp>
          <p:nvSpPr>
            <p:cNvPr id="73" name="Freeform 8" descr="C:\Users\Admin\Desktop\ECL 201\MBITS LOGO.png"/>
            <p:cNvSpPr/>
            <p:nvPr/>
          </p:nvSpPr>
          <p:spPr bwMode="auto">
            <a:xfrm>
              <a:off x="714240" y="405000"/>
              <a:ext cx="1892520" cy="1676160"/>
            </a:xfrm>
            <a:custGeom>
              <a:avLst/>
              <a:gdLst>
                <a:gd name="textAreaLeft" fmla="*/ 0 w 1892520"/>
                <a:gd name="textAreaRight" fmla="*/ 1892880 w 1892520"/>
                <a:gd name="textAreaTop" fmla="*/ 0 h 1676160"/>
                <a:gd name="textAreaBottom" fmla="*/ 1676520 h 1676160"/>
              </a:gdLst>
              <a:ahLst/>
              <a:cxnLst/>
              <a:rect l="textAreaLeft" t="textAreaTop" r="textAreaRight" b="textAreaBottom"/>
              <a:pathLst>
                <a:path w="2523998" h="2235200" fill="norm" stroke="1" extrusionOk="0">
                  <a:moveTo>
                    <a:pt x="0" y="0"/>
                  </a:moveTo>
                  <a:lnTo>
                    <a:pt x="2523998" y="0"/>
                  </a:lnTo>
                  <a:lnTo>
                    <a:pt x="2523998" y="2235200"/>
                  </a:lnTo>
                  <a:lnTo>
                    <a:pt x="0" y="2235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14466970" name="TextBox 9"/>
          <p:cNvSpPr/>
          <p:nvPr/>
        </p:nvSpPr>
        <p:spPr bwMode="auto">
          <a:xfrm>
            <a:off x="11189880" y="6346800"/>
            <a:ext cx="6069240" cy="22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Presented by: S6 ECE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Jesald Tony (MBI23EC015)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Richard S Areckal (MBI23EC020)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479"/>
              </a:lnSpc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Sreejith VB (MBI23EC023)</a:t>
            </a:r>
            <a:endParaRPr lang="en-US" sz="2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79806134" name="Group 10"/>
          <p:cNvGrpSpPr/>
          <p:nvPr/>
        </p:nvGrpSpPr>
        <p:grpSpPr bwMode="auto">
          <a:xfrm>
            <a:off x="13883040" y="-1660680"/>
            <a:ext cx="5286600" cy="5943240"/>
            <a:chOff x="13883040" y="-1660680"/>
            <a:chExt cx="5286600" cy="5943240"/>
          </a:xfrm>
        </p:grpSpPr>
        <p:sp>
          <p:nvSpPr>
            <p:cNvPr id="76" name="Freeform 11"/>
            <p:cNvSpPr/>
            <p:nvPr/>
          </p:nvSpPr>
          <p:spPr bwMode="auto">
            <a:xfrm>
              <a:off x="13883040" y="-1660680"/>
              <a:ext cx="5286600" cy="5943240"/>
            </a:xfrm>
            <a:custGeom>
              <a:avLst/>
              <a:gdLst>
                <a:gd name="textAreaLeft" fmla="*/ 0 w 5286600"/>
                <a:gd name="textAreaRight" fmla="*/ 5286960 w 5286600"/>
                <a:gd name="textAreaTop" fmla="*/ 0 h 5943240"/>
                <a:gd name="textAreaBottom" fmla="*/ 5943600 h 5943240"/>
              </a:gdLst>
              <a:ahLst/>
              <a:cxnLst/>
              <a:rect l="textAreaLeft" t="textAreaTop" r="textAreaRight" b="textAreaBottom"/>
              <a:pathLst>
                <a:path w="7049262" h="7924800" fill="norm" stroke="1" extrusionOk="0">
                  <a:moveTo>
                    <a:pt x="0" y="0"/>
                  </a:moveTo>
                  <a:lnTo>
                    <a:pt x="7049262" y="0"/>
                  </a:lnTo>
                  <a:lnTo>
                    <a:pt x="7049262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71784241" name="TextBox 12"/>
          <p:cNvSpPr/>
          <p:nvPr/>
        </p:nvSpPr>
        <p:spPr bwMode="auto">
          <a:xfrm>
            <a:off x="2737440" y="626040"/>
            <a:ext cx="140212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0"/>
              </a:lnSpc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MAR BASELIOS INSTITUTE OF TECHNOLOGY AND SCIENCE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59900" name="TextBox 19"/>
          <p:cNvSpPr/>
          <p:nvPr/>
        </p:nvSpPr>
        <p:spPr bwMode="auto">
          <a:xfrm>
            <a:off x="2006640" y="1826640"/>
            <a:ext cx="14752079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DEPARTMENT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OF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ELECTRONICS AND COMMUNICATION ENGINEERING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 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320"/>
              </a:lnSpc>
              <a:defRPr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MINIPROJECT SECOND REVIEW ON THE TOPIC 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363158" name="TextBox 20"/>
          <p:cNvSpPr/>
          <p:nvPr/>
        </p:nvSpPr>
        <p:spPr bwMode="auto">
          <a:xfrm>
            <a:off x="853560" y="4707000"/>
            <a:ext cx="16580880" cy="10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640"/>
              </a:lnSpc>
              <a:defRPr/>
            </a:pPr>
            <a:r>
              <a:rPr lang="en-US" sz="48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DIGITAL MEASURING TAPE</a:t>
            </a:r>
            <a:endParaRPr lang="en-US" sz="4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Freeform 14"/>
          <p:cNvSpPr/>
          <p:nvPr/>
        </p:nvSpPr>
        <p:spPr bwMode="auto">
          <a:xfrm rot="0" flipH="0" flipV="0">
            <a:off x="914400" y="19097640"/>
            <a:ext cx="4266720" cy="54756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560"/>
              <a:gd name="textAreaBottom" fmla="*/ 547920 h 547560"/>
            </a:gdLst>
            <a:ahLst/>
            <a:cxnLst/>
            <a:rect l="textAreaLeft" t="textAreaTop" r="textAreaRight" b="textAreaBottom"/>
            <a:pathLst>
              <a:path w="5689600" h="730400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400"/>
                </a:lnTo>
                <a:lnTo>
                  <a:pt x="0" y="73040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610073" name="PlaceHolder 3"/>
          <p:cNvSpPr>
            <a:spLocks noGrp="1"/>
          </p:cNvSpPr>
          <p:nvPr>
            <p:ph type="sldNum" idx="27"/>
          </p:nvPr>
        </p:nvSpPr>
        <p:spPr bwMode="auto">
          <a:xfrm>
            <a:off x="15125760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389F4D0-8F66-90AE-36B7-D7FB63CD554B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0902452" name="PlaceHolder 2"/>
          <p:cNvSpPr>
            <a:spLocks noGrp="1"/>
          </p:cNvSpPr>
          <p:nvPr>
            <p:ph type="ftr" idx="26"/>
          </p:nvPr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702165671" name="PlaceHolder 1"/>
          <p:cNvSpPr>
            <a:spLocks noGrp="1"/>
          </p:cNvSpPr>
          <p:nvPr>
            <p:ph type="dt" idx="25"/>
          </p:nvPr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>
              <a:defRPr/>
            </a:pPr>
            <a:fld id="{25321AE3-3EB9-F4F8-2151-C491257E384E}" type="datetime3">
              <a:rPr lang="en-US" sz="2000">
                <a:latin typeface="Times New Roman"/>
                <a:ea typeface="Times New Roman"/>
                <a:cs typeface="Times New Roman"/>
              </a:rPr>
              <a:t>25 March 2026</a:t>
            </a:fld>
            <a:endParaRPr/>
          </a:p>
        </p:txBody>
      </p:sp>
      <p:sp>
        <p:nvSpPr>
          <p:cNvPr id="82" name="Freeform 17"/>
          <p:cNvSpPr/>
          <p:nvPr/>
        </p:nvSpPr>
        <p:spPr bwMode="auto">
          <a:xfrm rot="0" flipH="0" flipV="0">
            <a:off x="12191760" y="19104840"/>
            <a:ext cx="5790960" cy="71784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717840"/>
              <a:gd name="textAreaBottom" fmla="*/ 718200 h 717840"/>
            </a:gdLst>
            <a:ahLst/>
            <a:cxnLst/>
            <a:rect l="textAreaLeft" t="textAreaTop" r="textAreaRight" b="textAreaBottom"/>
            <a:pathLst>
              <a:path w="7721600" h="957566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957566"/>
                </a:lnTo>
                <a:lnTo>
                  <a:pt x="0" y="957566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reeform 5"/>
          <p:cNvSpPr/>
          <p:nvPr/>
        </p:nvSpPr>
        <p:spPr bwMode="auto">
          <a:xfrm rot="0" flipH="0" flipV="0">
            <a:off x="26213040" y="19040400"/>
            <a:ext cx="4266720" cy="54756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560"/>
              <a:gd name="textAreaBottom" fmla="*/ 547920 h 547560"/>
            </a:gdLst>
            <a:ahLst/>
            <a:cxnLst/>
            <a:rect l="textAreaLeft" t="textAreaTop" r="textAreaRight" b="textAreaBottom"/>
            <a:pathLst>
              <a:path w="5689600" h="730400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400"/>
                </a:lnTo>
                <a:lnTo>
                  <a:pt x="0" y="73040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10288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42658783" name="Group 3"/>
          <p:cNvGrpSpPr/>
          <p:nvPr/>
        </p:nvGrpSpPr>
        <p:grpSpPr bwMode="auto">
          <a:xfrm>
            <a:off x="3920040" y="99359"/>
            <a:ext cx="10447560" cy="1304280"/>
            <a:chOff x="3920040" y="99359"/>
            <a:chExt cx="10447560" cy="1304280"/>
          </a:xfrm>
        </p:grpSpPr>
        <p:sp>
          <p:nvSpPr>
            <p:cNvPr id="88" name="Freeform 4"/>
            <p:cNvSpPr/>
            <p:nvPr/>
          </p:nvSpPr>
          <p:spPr bwMode="auto">
            <a:xfrm>
              <a:off x="3920040" y="120960"/>
              <a:ext cx="10447560" cy="1282680"/>
            </a:xfrm>
            <a:custGeom>
              <a:avLst/>
              <a:gdLst>
                <a:gd name="textAreaLeft" fmla="*/ 0 w 10447560"/>
                <a:gd name="textAreaRight" fmla="*/ 10447920 w 10447560"/>
                <a:gd name="textAreaTop" fmla="*/ 0 h 1282680"/>
                <a:gd name="textAreaBottom" fmla="*/ 1283040 h 1282680"/>
              </a:gdLst>
              <a:ahLst/>
              <a:cxnLst/>
              <a:rect l="textAreaLeft" t="textAreaTop" r="textAreaRight" b="textAreaBottom"/>
              <a:pathLst>
                <a:path w="13930401" h="1710801" fill="norm" stroke="1" extrusionOk="0">
                  <a:moveTo>
                    <a:pt x="0" y="0"/>
                  </a:moveTo>
                  <a:lnTo>
                    <a:pt x="13930401" y="0"/>
                  </a:lnTo>
                  <a:lnTo>
                    <a:pt x="13930401" y="1710801"/>
                  </a:lnTo>
                  <a:lnTo>
                    <a:pt x="0" y="1710801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TextBox 5"/>
            <p:cNvSpPr/>
            <p:nvPr/>
          </p:nvSpPr>
          <p:spPr bwMode="auto">
            <a:xfrm>
              <a:off x="3920040" y="99359"/>
              <a:ext cx="10447560" cy="130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OUTLINE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46480828" name="TextBox 6"/>
          <p:cNvSpPr/>
          <p:nvPr/>
        </p:nvSpPr>
        <p:spPr bwMode="auto">
          <a:xfrm>
            <a:off x="1028879" y="1579561"/>
            <a:ext cx="16749000" cy="83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1. Introduction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2. Literature review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3. Objective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4. Design and Simulation Results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5. Block Diagram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6. Budget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7. Work Plan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8. Project Demonstration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8. Advantages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9.Future Scope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10.Conclusion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57"/>
              </a:lnSpc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11.References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8320"/>
              </a:lnSpc>
              <a:defRPr/>
            </a:pP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9"/>
          <p:cNvSpPr/>
          <p:nvPr/>
        </p:nvSpPr>
        <p:spPr bwMode="auto">
          <a:xfrm rot="0" flipH="0" flipV="0">
            <a:off x="609840" y="19069200"/>
            <a:ext cx="4266720" cy="5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880"/>
              </a:lnSpc>
              <a:defRPr/>
            </a:pPr>
            <a:r>
              <a:rPr lang="en-US" sz="2400" b="0" i="0" u="none" strike="noStrike" cap="none" spc="0">
                <a:solidFill>
                  <a:srgbClr val="898989"/>
                </a:solidFill>
                <a:latin typeface="Calibri (MS)"/>
                <a:ea typeface="Calibri (MS)"/>
                <a:cs typeface="Calibri (MS)"/>
              </a:rPr>
              <a:t>11 March 2026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2"/>
          <p:cNvSpPr/>
          <p:nvPr/>
        </p:nvSpPr>
        <p:spPr bwMode="auto">
          <a:xfrm rot="0" flipH="0" flipV="0">
            <a:off x="9647280" y="19011600"/>
            <a:ext cx="885672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898989"/>
                </a:solidFill>
                <a:latin typeface="Calibri (MS)"/>
                <a:ea typeface="Calibri (MS)"/>
              </a:rPr>
              <a:t>ECD 334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Freeform 14"/>
          <p:cNvSpPr/>
          <p:nvPr/>
        </p:nvSpPr>
        <p:spPr bwMode="auto">
          <a:xfrm rot="0" flipH="0" flipV="0">
            <a:off x="26213040" y="19040400"/>
            <a:ext cx="4266720" cy="54756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560"/>
              <a:gd name="textAreaBottom" fmla="*/ 547920 h 547560"/>
            </a:gdLst>
            <a:ahLst/>
            <a:cxnLst/>
            <a:rect l="textAreaLeft" t="textAreaTop" r="textAreaRight" b="textAreaBottom"/>
            <a:pathLst>
              <a:path w="5689600" h="730400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400"/>
                </a:lnTo>
                <a:lnTo>
                  <a:pt x="0" y="730400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13194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4840515-7F51-36A3-26E5-B0EBFA19BFF0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576099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472319544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F79C0A85-1C16-3688-750F-482279612FD1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86629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2503377" name="Group 3"/>
          <p:cNvGrpSpPr/>
          <p:nvPr/>
        </p:nvGrpSpPr>
        <p:grpSpPr bwMode="auto">
          <a:xfrm>
            <a:off x="2971800" y="-21600"/>
            <a:ext cx="12344040" cy="1490400"/>
            <a:chOff x="2971800" y="-21600"/>
            <a:chExt cx="12344040" cy="1490400"/>
          </a:xfrm>
        </p:grpSpPr>
        <p:sp>
          <p:nvSpPr>
            <p:cNvPr id="102" name="Freeform 4"/>
            <p:cNvSpPr/>
            <p:nvPr/>
          </p:nvSpPr>
          <p:spPr bwMode="auto">
            <a:xfrm>
              <a:off x="2971800" y="0"/>
              <a:ext cx="12344040" cy="1468800"/>
            </a:xfrm>
            <a:custGeom>
              <a:avLst/>
              <a:gdLst>
                <a:gd name="textAreaLeft" fmla="*/ 0 w 12344040"/>
                <a:gd name="textAreaRight" fmla="*/ 12344400 w 12344040"/>
                <a:gd name="textAreaTop" fmla="*/ 0 h 1468800"/>
                <a:gd name="textAreaBottom" fmla="*/ 1469160 h 1468800"/>
              </a:gdLst>
              <a:ahLst/>
              <a:cxnLst/>
              <a:rect l="textAreaLeft" t="textAreaTop" r="textAreaRight" b="textAreaBottom"/>
              <a:pathLst>
                <a:path w="16459200" h="1959024" fill="norm" stroke="1" extrusionOk="0">
                  <a:moveTo>
                    <a:pt x="0" y="0"/>
                  </a:moveTo>
                  <a:lnTo>
                    <a:pt x="16459200" y="0"/>
                  </a:lnTo>
                  <a:lnTo>
                    <a:pt x="16459200" y="1959024"/>
                  </a:lnTo>
                  <a:lnTo>
                    <a:pt x="0" y="195902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TextBox 5"/>
            <p:cNvSpPr/>
            <p:nvPr/>
          </p:nvSpPr>
          <p:spPr bwMode="auto">
            <a:xfrm>
              <a:off x="2971800" y="-21600"/>
              <a:ext cx="12344040" cy="149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 INTRODUCTION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99926605" name="TextBox 6"/>
          <p:cNvSpPr/>
          <p:nvPr/>
        </p:nvSpPr>
        <p:spPr bwMode="auto">
          <a:xfrm>
            <a:off x="1028879" y="1875600"/>
            <a:ext cx="16230240" cy="57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75879" lvl="1" indent="-438120" algn="just" defTabSz="914400">
              <a:lnSpc>
                <a:spcPts val="577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A digital measuring tape is an electronic device used to measure linear distance accurately using sensors and a microcontroller.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75879" lvl="1" indent="-438120" algn="just" defTabSz="914400">
              <a:lnSpc>
                <a:spcPts val="577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This project uses an Arduino Nano and a rotary encoder to convert wheel rotation into digital distance values.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75879" lvl="1" indent="-438120" algn="just" defTabSz="914400">
              <a:lnSpc>
                <a:spcPts val="577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The measured distance is calculated electronically and displayed in real-time on a 16×2 LCD screen.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75879" lvl="1" indent="-438120" algn="just" defTabSz="914400">
              <a:lnSpc>
                <a:spcPts val="577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It demonstrates a practical application of embedded systems in measurement and automation.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038645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1B4EA0A-D2FE-7477-C409-E99AE14B6FB9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5885667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037628288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5D4613EA-CB19-688A-3072-31861726CEEB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51189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26139019" name="Group 3"/>
          <p:cNvGrpSpPr/>
          <p:nvPr/>
        </p:nvGrpSpPr>
        <p:grpSpPr bwMode="auto">
          <a:xfrm>
            <a:off x="914400" y="-119520"/>
            <a:ext cx="16458840" cy="1735560"/>
            <a:chOff x="914400" y="-119520"/>
            <a:chExt cx="16458840" cy="1735560"/>
          </a:xfrm>
        </p:grpSpPr>
        <p:sp>
          <p:nvSpPr>
            <p:cNvPr id="116" name="Freeform 4"/>
            <p:cNvSpPr/>
            <p:nvPr/>
          </p:nvSpPr>
          <p:spPr bwMode="auto">
            <a:xfrm>
              <a:off x="914400" y="-9828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TextBox 5"/>
            <p:cNvSpPr/>
            <p:nvPr/>
          </p:nvSpPr>
          <p:spPr bwMode="auto">
            <a:xfrm>
              <a:off x="914400" y="-11952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LITERATURE REVIEW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470020440" name="Table 6"/>
          <p:cNvGraphicFramePr>
            <a:graphicFrameLocks xmlns:a="http://schemas.openxmlformats.org/drawingml/2006/main"/>
          </p:cNvGraphicFramePr>
          <p:nvPr/>
        </p:nvGraphicFramePr>
        <p:xfrm rot="0">
          <a:off x="1028879" y="2037600"/>
          <a:ext cx="16535160" cy="556703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01800"/>
                <a:gridCol w="3683160"/>
                <a:gridCol w="3683160"/>
                <a:gridCol w="3251879"/>
                <a:gridCol w="4114440"/>
              </a:tblGrid>
              <a:tr h="1324800"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SL.NO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TOPIC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AUTHOR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YEAR OF PUBLICATION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DESCRIPTION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2240"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Digital Measuring Tape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S. P. Sabarinath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2021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Describes the design and working of a digital measuring tape using a micro-controller and rotary encoder to measure distance electronically.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120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230051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F9E89E1-C710-AF94-1EC1-B70AA2E1F3B3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9845606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658782359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07107BD2-1E6D-E95E-EC83-3BA4E87D9BEB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177607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16674516" name="Group 3"/>
          <p:cNvGrpSpPr/>
          <p:nvPr/>
        </p:nvGrpSpPr>
        <p:grpSpPr bwMode="auto">
          <a:xfrm>
            <a:off x="914400" y="-336960"/>
            <a:ext cx="16458840" cy="2181240"/>
            <a:chOff x="914400" y="-336960"/>
            <a:chExt cx="16458840" cy="2181240"/>
          </a:xfrm>
        </p:grpSpPr>
        <p:sp>
          <p:nvSpPr>
            <p:cNvPr id="130" name="Freeform 4"/>
            <p:cNvSpPr/>
            <p:nvPr/>
          </p:nvSpPr>
          <p:spPr bwMode="auto">
            <a:xfrm>
              <a:off x="914400" y="-315720"/>
              <a:ext cx="16458840" cy="216000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2160000"/>
                <a:gd name="textAreaBottom" fmla="*/ 2160360 h 2160000"/>
              </a:gdLst>
              <a:ahLst/>
              <a:cxnLst/>
              <a:rect l="textAreaLeft" t="textAreaTop" r="textAreaRight" b="textAreaBottom"/>
              <a:pathLst>
                <a:path w="21945600" h="2880318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880318"/>
                  </a:lnTo>
                  <a:lnTo>
                    <a:pt x="0" y="2880318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TextBox 5"/>
            <p:cNvSpPr/>
            <p:nvPr/>
          </p:nvSpPr>
          <p:spPr bwMode="auto">
            <a:xfrm>
              <a:off x="914400" y="-336960"/>
              <a:ext cx="16458840" cy="218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LITERATURE REVIEW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677084241" name="Table 6"/>
          <p:cNvGraphicFramePr>
            <a:graphicFrameLocks xmlns:a="http://schemas.openxmlformats.org/drawingml/2006/main"/>
          </p:cNvGraphicFramePr>
          <p:nvPr/>
        </p:nvGraphicFramePr>
        <p:xfrm rot="0">
          <a:off x="1110834" y="1503048"/>
          <a:ext cx="16509600" cy="7974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301920"/>
                <a:gridCol w="3301920"/>
                <a:gridCol w="3301920"/>
                <a:gridCol w="3301920"/>
                <a:gridCol w="3301920"/>
              </a:tblGrid>
              <a:tr h="931320"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SL.NO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TOPIC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AUTHOR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YEAR OF PUBLICATION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DESCRIPTION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15160"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2.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Digital Tape Measure Using Rotary Encoder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Arduino Forum Community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2024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841"/>
                        </a:lnSpc>
                        <a:defRPr/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Discusses technical challenges and solutions in decoding encoder pulses for accurate distance measurement using Arduino.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91440" marB="91440" anchor="ctr">
                    <a:lnL w="4320" algn="ctr">
                      <a:solidFill>
                        <a:srgbClr val="000000"/>
                      </a:solidFill>
                    </a:lnL>
                    <a:lnR w="4320" algn="ctr">
                      <a:solidFill>
                        <a:srgbClr val="000000"/>
                      </a:solidFill>
                    </a:lnR>
                    <a:lnT w="4320" algn="ctr">
                      <a:solidFill>
                        <a:srgbClr val="000000"/>
                      </a:solidFill>
                    </a:lnT>
                    <a:lnB w="4320" algn="ctr">
                      <a:solidFill>
                        <a:srgbClr val="000000"/>
                      </a:solidFill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135" name="TextBox 9"/>
          <p:cNvSpPr/>
          <p:nvPr/>
        </p:nvSpPr>
        <p:spPr bwMode="auto">
          <a:xfrm rot="0" flipH="0" flipV="0">
            <a:off x="609840" y="19069200"/>
            <a:ext cx="42667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898989"/>
                </a:solidFill>
                <a:latin typeface="Calibri (MS)"/>
                <a:ea typeface="Calibri (MS)"/>
                <a:cs typeface="Calibri (MS)"/>
              </a:rPr>
              <a:t>11 March 2026</a:t>
            </a:r>
            <a:endParaRPr/>
          </a:p>
        </p:txBody>
      </p:sp>
      <p:sp>
        <p:nvSpPr>
          <p:cNvPr id="137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114867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1C1E8F9-CB7F-81D0-BA5A-A48494295983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126815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667526798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3BF9070E-6810-72CF-FB20-4C100CC32760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193781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70935306" name="Group 3"/>
          <p:cNvGrpSpPr/>
          <p:nvPr/>
        </p:nvGrpSpPr>
        <p:grpSpPr bwMode="auto">
          <a:xfrm>
            <a:off x="914400" y="-118080"/>
            <a:ext cx="16458840" cy="1735920"/>
            <a:chOff x="914400" y="-118080"/>
            <a:chExt cx="16458840" cy="1735920"/>
          </a:xfrm>
        </p:grpSpPr>
        <p:sp>
          <p:nvSpPr>
            <p:cNvPr id="144" name="Freeform 4"/>
            <p:cNvSpPr/>
            <p:nvPr/>
          </p:nvSpPr>
          <p:spPr bwMode="auto">
            <a:xfrm>
              <a:off x="914400" y="-9648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" name="TextBox 5"/>
            <p:cNvSpPr/>
            <p:nvPr/>
          </p:nvSpPr>
          <p:spPr bwMode="auto">
            <a:xfrm>
              <a:off x="914400" y="-11808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OBJECTIVES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2683530" name="TextBox 6"/>
          <p:cNvSpPr/>
          <p:nvPr/>
        </p:nvSpPr>
        <p:spPr bwMode="auto">
          <a:xfrm>
            <a:off x="1028879" y="1875600"/>
            <a:ext cx="16287480" cy="36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Improve accessibility to quick and accurate distance measurement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Promote convenient and error-free digital measurement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Ensure ease of use with real-time visual display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Encourage awareness of modern digital measurement techniques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5723"/>
              </a:lnSpc>
              <a:defRPr/>
            </a:pP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5407621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D111D17-E122-1930-1020-BC63D590C2BC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377428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281546230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D1AAD1E2-D0A1-F7EF-8A27-054A2ECB1DD5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119427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75310771" name="Group 3"/>
          <p:cNvGrpSpPr/>
          <p:nvPr/>
        </p:nvGrpSpPr>
        <p:grpSpPr bwMode="auto">
          <a:xfrm>
            <a:off x="914400" y="-121320"/>
            <a:ext cx="16458840" cy="1735920"/>
            <a:chOff x="914400" y="-121320"/>
            <a:chExt cx="16458840" cy="1735920"/>
          </a:xfrm>
        </p:grpSpPr>
        <p:sp>
          <p:nvSpPr>
            <p:cNvPr id="158" name="Freeform 4"/>
            <p:cNvSpPr/>
            <p:nvPr/>
          </p:nvSpPr>
          <p:spPr bwMode="auto">
            <a:xfrm>
              <a:off x="914400" y="-9972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TextBox 5"/>
            <p:cNvSpPr/>
            <p:nvPr/>
          </p:nvSpPr>
          <p:spPr bwMode="auto">
            <a:xfrm>
              <a:off x="914400" y="-12132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BLOCK DIAGRAM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01324590" name="TextBox 16"/>
          <p:cNvSpPr/>
          <p:nvPr/>
        </p:nvSpPr>
        <p:spPr bwMode="auto">
          <a:xfrm>
            <a:off x="7421039" y="8583480"/>
            <a:ext cx="34459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FIG 1: BLOCK DIAGRAM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316465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125403" y="3483801"/>
            <a:ext cx="13067916" cy="3940479"/>
          </a:xfrm>
          <a:prstGeom prst="rect">
            <a:avLst/>
          </a:prstGeom>
        </p:spPr>
      </p:pic>
      <p:sp>
        <p:nvSpPr>
          <p:cNvPr id="161" name="Freeform 7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Freeform 10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Freeform 13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537799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E0E9969-0FDD-0E2A-5C76-8D3484999C4D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5352159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2090953913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B0D5A121-4C5C-BCCC-43E3-C234EA65AFDC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0249700" name="Group 3"/>
          <p:cNvGrpSpPr/>
          <p:nvPr/>
        </p:nvGrpSpPr>
        <p:grpSpPr bwMode="auto">
          <a:xfrm>
            <a:off x="1204920" y="-114840"/>
            <a:ext cx="16458840" cy="1735560"/>
            <a:chOff x="1204920" y="-114840"/>
            <a:chExt cx="16458840" cy="1735560"/>
          </a:xfrm>
        </p:grpSpPr>
        <p:sp>
          <p:nvSpPr>
            <p:cNvPr id="173" name="Freeform 4"/>
            <p:cNvSpPr/>
            <p:nvPr/>
          </p:nvSpPr>
          <p:spPr bwMode="auto">
            <a:xfrm>
              <a:off x="1204920" y="-936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TextBox 5"/>
            <p:cNvSpPr/>
            <p:nvPr/>
          </p:nvSpPr>
          <p:spPr bwMode="auto">
            <a:xfrm>
              <a:off x="1204920" y="-11484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DESIGN AND SIMULATION RESULTS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264134" name="Group 6"/>
          <p:cNvGrpSpPr/>
          <p:nvPr/>
        </p:nvGrpSpPr>
        <p:grpSpPr bwMode="auto">
          <a:xfrm>
            <a:off x="304920" y="9534600"/>
            <a:ext cx="4266720" cy="581760"/>
            <a:chOff x="304920" y="9534600"/>
            <a:chExt cx="4266720" cy="581760"/>
          </a:xfrm>
        </p:grpSpPr>
        <p:sp>
          <p:nvSpPr>
            <p:cNvPr id="176" name="Freeform 7"/>
            <p:cNvSpPr/>
            <p:nvPr/>
          </p:nvSpPr>
          <p:spPr bwMode="auto">
            <a:xfrm>
              <a:off x="304920" y="9563040"/>
              <a:ext cx="4266720" cy="553320"/>
            </a:xfrm>
            <a:custGeom>
              <a:avLst/>
              <a:gdLst>
                <a:gd name="textAreaLeft" fmla="*/ 0 w 4266720"/>
                <a:gd name="textAreaRight" fmla="*/ 4267080 w 4266720"/>
                <a:gd name="textAreaTop" fmla="*/ 0 h 553320"/>
                <a:gd name="textAreaBottom" fmla="*/ 553680 h 553320"/>
              </a:gdLst>
              <a:ahLst/>
              <a:cxnLst/>
              <a:rect l="textAreaLeft" t="textAreaTop" r="textAreaRight" b="textAreaBottom"/>
              <a:pathLst>
                <a:path w="5689600" h="738293" fill="norm" stroke="1" extrusionOk="0">
                  <a:moveTo>
                    <a:pt x="0" y="0"/>
                  </a:moveTo>
                  <a:lnTo>
                    <a:pt x="5689600" y="0"/>
                  </a:lnTo>
                  <a:lnTo>
                    <a:pt x="5689600" y="738293"/>
                  </a:lnTo>
                  <a:lnTo>
                    <a:pt x="0" y="738293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TextBox 8"/>
            <p:cNvSpPr/>
            <p:nvPr/>
          </p:nvSpPr>
          <p:spPr bwMode="auto">
            <a:xfrm>
              <a:off x="304920" y="9534600"/>
              <a:ext cx="4266720" cy="58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defRPr/>
              </a:pPr>
              <a:endParaRPr/>
            </a:p>
          </p:txBody>
        </p:sp>
      </p:grpSp>
      <p:grpSp>
        <p:nvGrpSpPr>
          <p:cNvPr id="1005302756" name="Group 15"/>
          <p:cNvGrpSpPr/>
          <p:nvPr/>
        </p:nvGrpSpPr>
        <p:grpSpPr bwMode="auto">
          <a:xfrm>
            <a:off x="2438280" y="2621160"/>
            <a:ext cx="13992120" cy="5785560"/>
            <a:chOff x="2438280" y="2621160"/>
            <a:chExt cx="13992120" cy="5785560"/>
          </a:xfrm>
        </p:grpSpPr>
        <p:sp>
          <p:nvSpPr>
            <p:cNvPr id="185" name="Freeform 16"/>
            <p:cNvSpPr/>
            <p:nvPr/>
          </p:nvSpPr>
          <p:spPr bwMode="auto">
            <a:xfrm>
              <a:off x="2438280" y="2621160"/>
              <a:ext cx="13992120" cy="5785560"/>
            </a:xfrm>
            <a:custGeom>
              <a:avLst/>
              <a:gdLst>
                <a:gd name="textAreaLeft" fmla="*/ 0 w 13992120"/>
                <a:gd name="textAreaRight" fmla="*/ 13992480 w 13992120"/>
                <a:gd name="textAreaTop" fmla="*/ 0 h 5785560"/>
                <a:gd name="textAreaBottom" fmla="*/ 5785920 h 5785560"/>
              </a:gdLst>
              <a:ahLst/>
              <a:cxnLst/>
              <a:rect l="textAreaLeft" t="textAreaTop" r="textAreaRight" b="textAreaBottom"/>
              <a:pathLst>
                <a:path w="16937355" h="7003699" fill="norm" stroke="1" extrusionOk="0">
                  <a:moveTo>
                    <a:pt x="0" y="0"/>
                  </a:moveTo>
                  <a:lnTo>
                    <a:pt x="16937355" y="0"/>
                  </a:lnTo>
                  <a:lnTo>
                    <a:pt x="16937355" y="7003699"/>
                  </a:lnTo>
                  <a:lnTo>
                    <a:pt x="0" y="700369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2848628" name="TextBox 17"/>
          <p:cNvSpPr/>
          <p:nvPr/>
        </p:nvSpPr>
        <p:spPr bwMode="auto">
          <a:xfrm>
            <a:off x="6283440" y="8583480"/>
            <a:ext cx="57204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FIG 2: SIMULATION RESULT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Freeform 10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Freeform 13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4469822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B768193-869D-9BCA-F5CC-4F91F12C5F45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8539781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338157399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9E791B81-BE31-7DA2-0AC0-ED45653CB47F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866202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89627222" name="Group 3"/>
          <p:cNvGrpSpPr/>
          <p:nvPr/>
        </p:nvGrpSpPr>
        <p:grpSpPr bwMode="auto">
          <a:xfrm>
            <a:off x="914400" y="-102240"/>
            <a:ext cx="16458840" cy="1743120"/>
            <a:chOff x="914400" y="-102240"/>
            <a:chExt cx="16458840" cy="1743120"/>
          </a:xfrm>
        </p:grpSpPr>
        <p:sp>
          <p:nvSpPr>
            <p:cNvPr id="189" name="Freeform 4"/>
            <p:cNvSpPr/>
            <p:nvPr/>
          </p:nvSpPr>
          <p:spPr bwMode="auto">
            <a:xfrm>
              <a:off x="914400" y="-738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406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406"/>
                  </a:lnTo>
                  <a:lnTo>
                    <a:pt x="0" y="2286406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" name="TextBox 5"/>
            <p:cNvSpPr/>
            <p:nvPr/>
          </p:nvSpPr>
          <p:spPr bwMode="auto">
            <a:xfrm>
              <a:off x="914400" y="-102240"/>
              <a:ext cx="16458840" cy="174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200"/>
                </a:lnSpc>
                <a:defRPr/>
              </a:pPr>
              <a:r>
                <a:rPr lang="en-US" sz="60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BUDGET</a:t>
              </a:r>
              <a:endParaRPr lang="en-US" sz="60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64059475" name="TextBox 10"/>
          <p:cNvSpPr/>
          <p:nvPr/>
        </p:nvSpPr>
        <p:spPr bwMode="auto">
          <a:xfrm>
            <a:off x="-1539720" y="2088000"/>
            <a:ext cx="194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defRPr/>
            </a:pP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13291222" name="Picture 69935255"/>
          <p:cNvPicPr/>
          <p:nvPr/>
        </p:nvPicPr>
        <p:blipFill rotWithShape="1">
          <a:blip r:embed="rId5"/>
          <a:stretch/>
        </p:blipFill>
        <p:spPr bwMode="auto">
          <a:xfrm>
            <a:off x="1152360" y="1346400"/>
            <a:ext cx="15982560" cy="83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Freeform 7"/>
          <p:cNvSpPr/>
          <p:nvPr/>
        </p:nvSpPr>
        <p:spPr bwMode="auto">
          <a:xfrm rot="0" flipH="0" flipV="0">
            <a:off x="26213040" y="19040400"/>
            <a:ext cx="4266720" cy="54756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560"/>
              <a:gd name="textAreaBottom" fmla="*/ 547920 h 547560"/>
            </a:gdLst>
            <a:ahLst/>
            <a:cxnLst/>
            <a:rect l="textAreaLeft" t="textAreaTop" r="textAreaRight" b="textAreaBottom"/>
            <a:pathLst>
              <a:path w="5689600" h="730398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398"/>
                </a:lnTo>
                <a:lnTo>
                  <a:pt x="0" y="730398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990579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37F85F9-7E21-F047-CD95-98F7DD574006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8493709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587967952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C152702F-2642-3064-BEE0-32D91E5C5FF6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953899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36529068" name="Table 3"/>
          <p:cNvGraphicFramePr>
            <a:graphicFrameLocks xmlns:a="http://schemas.openxmlformats.org/drawingml/2006/main"/>
          </p:cNvGraphicFramePr>
          <p:nvPr/>
        </p:nvGraphicFramePr>
        <p:xfrm rot="0">
          <a:off x="1856880" y="2037600"/>
          <a:ext cx="15572520" cy="7353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991400"/>
                <a:gridCol w="10581120"/>
              </a:tblGrid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DATE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</a:rPr>
                        <a:t>WORK DONE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11/12/2025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Decided the project topic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15/12/2025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Submitted abstract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18/12/2025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Conducted zeroth review presentation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15/01/2026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Partially Completed the simulation part  using Arduino IDE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05/02/2026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Completed the simulation part using Arduino IDE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12/02/2026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First review presentation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05/03/2026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Hardware implementation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11/03/2026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Second Review Presentation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24/03/2026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Mini-project binded report submission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  <a:tr h="668160"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26/03/2026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ts val="3359"/>
                        </a:lnSpc>
                        <a:defRPr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Final Presentation</a:t>
                      </a:r>
                      <a:endParaRPr lang="en-US" sz="28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marT="45720" marB="45720" anchor="ctr">
                    <a:lnL w="18720" algn="ctr">
                      <a:solidFill>
                        <a:srgbClr val="000000"/>
                      </a:solidFill>
                    </a:lnL>
                    <a:lnR w="18720" algn="ctr">
                      <a:solidFill>
                        <a:srgbClr val="000000"/>
                      </a:solidFill>
                    </a:lnR>
                    <a:lnT w="18720" algn="ctr">
                      <a:solidFill>
                        <a:srgbClr val="000000"/>
                      </a:solidFill>
                    </a:lnT>
                    <a:lnB w="18720" algn="ctr">
                      <a:solidFill>
                        <a:srgbClr val="000000"/>
                      </a:solidFill>
                    </a:lnB>
                    <a:solidFill>
                      <a:srgbClr val="FAF8FA"/>
                    </a:solidFill>
                  </a:tcPr>
                </a:tc>
              </a:tr>
            </a:tbl>
          </a:graphicData>
        </a:graphic>
      </p:graphicFrame>
      <p:grpSp>
        <p:nvGrpSpPr>
          <p:cNvPr id="40002686" name="Group 4"/>
          <p:cNvGrpSpPr/>
          <p:nvPr/>
        </p:nvGrpSpPr>
        <p:grpSpPr bwMode="auto">
          <a:xfrm>
            <a:off x="697320" y="1257840"/>
            <a:ext cx="5089320" cy="663840"/>
            <a:chOff x="697320" y="1257840"/>
            <a:chExt cx="5089320" cy="663840"/>
          </a:xfrm>
        </p:grpSpPr>
        <p:sp>
          <p:nvSpPr>
            <p:cNvPr id="199" name="Freeform 5"/>
            <p:cNvSpPr/>
            <p:nvPr/>
          </p:nvSpPr>
          <p:spPr bwMode="auto">
            <a:xfrm>
              <a:off x="697320" y="1265040"/>
              <a:ext cx="5089320" cy="656640"/>
            </a:xfrm>
            <a:custGeom>
              <a:avLst/>
              <a:gdLst>
                <a:gd name="textAreaLeft" fmla="*/ 0 w 5089320"/>
                <a:gd name="textAreaRight" fmla="*/ 5089680 w 5089320"/>
                <a:gd name="textAreaTop" fmla="*/ 0 h 656640"/>
                <a:gd name="textAreaBottom" fmla="*/ 657000 h 656640"/>
              </a:gdLst>
              <a:ahLst/>
              <a:cxnLst/>
              <a:rect l="textAreaLeft" t="textAreaTop" r="textAreaRight" b="textAreaBottom"/>
              <a:pathLst>
                <a:path w="6786400" h="876005" fill="norm" stroke="1" extrusionOk="0">
                  <a:moveTo>
                    <a:pt x="0" y="0"/>
                  </a:moveTo>
                  <a:lnTo>
                    <a:pt x="6786400" y="0"/>
                  </a:lnTo>
                  <a:lnTo>
                    <a:pt x="6786400" y="876005"/>
                  </a:lnTo>
                  <a:lnTo>
                    <a:pt x="0" y="87600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" name="TextBox 6"/>
            <p:cNvSpPr/>
            <p:nvPr/>
          </p:nvSpPr>
          <p:spPr bwMode="auto">
            <a:xfrm>
              <a:off x="697320" y="1257840"/>
              <a:ext cx="5089320" cy="66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880"/>
                </a:lnSpc>
                <a:defRPr/>
              </a:pPr>
              <a:r>
                <a:rPr lang="en-US" sz="2400" b="0" u="none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Table 2 : Work plan</a:t>
              </a:r>
              <a:endParaRPr lang="en-US" sz="2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69706837" name="TextBox 8"/>
          <p:cNvSpPr/>
          <p:nvPr/>
        </p:nvSpPr>
        <p:spPr bwMode="auto">
          <a:xfrm>
            <a:off x="1051200" y="-12960"/>
            <a:ext cx="1618524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0517"/>
              </a:lnSpc>
              <a:defRPr/>
            </a:pPr>
            <a:r>
              <a:rPr lang="en-US" sz="64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WORK PLAN</a:t>
            </a:r>
            <a:endParaRPr lang="en-US" sz="6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066768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4D96D37-EFEB-79FB-2633-5CB87980D1C2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6858819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216835279" name="PlaceHolder 1"/>
          <p:cNvSpPr>
            <a:spLocks noGrp="1"/>
          </p:cNvSpPr>
          <p:nvPr/>
        </p:nvSpPr>
        <p:spPr bwMode="auto">
          <a:xfrm>
            <a:off x="293717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E8098099-863D-4CBE-FCF0-EDAD93C93056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277093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81799460" name="Group 3"/>
          <p:cNvGrpSpPr/>
          <p:nvPr/>
        </p:nvGrpSpPr>
        <p:grpSpPr bwMode="auto">
          <a:xfrm>
            <a:off x="1204920" y="-114840"/>
            <a:ext cx="16458840" cy="1735560"/>
            <a:chOff x="1204920" y="-114840"/>
            <a:chExt cx="16458840" cy="1735560"/>
          </a:xfrm>
        </p:grpSpPr>
        <p:sp>
          <p:nvSpPr>
            <p:cNvPr id="205" name="Freeform 4"/>
            <p:cNvSpPr/>
            <p:nvPr/>
          </p:nvSpPr>
          <p:spPr bwMode="auto">
            <a:xfrm>
              <a:off x="1204920" y="-936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TextBox 5"/>
            <p:cNvSpPr/>
            <p:nvPr/>
          </p:nvSpPr>
          <p:spPr bwMode="auto">
            <a:xfrm>
              <a:off x="1204920" y="-11484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PROJECT DEMO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25297030" name="TextBox 16"/>
          <p:cNvSpPr/>
          <p:nvPr/>
        </p:nvSpPr>
        <p:spPr bwMode="auto">
          <a:xfrm>
            <a:off x="4662360" y="8886960"/>
            <a:ext cx="89625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VIDEO DEMONSTRATION OF DIGITAL MEASURING TAPE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2647515" name="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 rotWithShape="1">
          <a:blip r:embed="rId5"/>
          <a:stretch/>
        </p:blipFill>
        <p:spPr bwMode="auto">
          <a:xfrm>
            <a:off x="2743200" y="1735920"/>
            <a:ext cx="13715640" cy="6455160"/>
          </a:xfrm>
          <a:prstGeom prst="rect">
            <a:avLst/>
          </a:prstGeom>
          <a:ln w="0">
            <a:noFill/>
          </a:ln>
        </p:spPr>
      </p:pic>
      <p:sp>
        <p:nvSpPr>
          <p:cNvPr id="209" name="TextBox 8"/>
          <p:cNvSpPr/>
          <p:nvPr/>
        </p:nvSpPr>
        <p:spPr bwMode="auto">
          <a:xfrm rot="0" flipH="0" flipV="0">
            <a:off x="609840" y="19069200"/>
            <a:ext cx="42667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898989"/>
                </a:solidFill>
                <a:latin typeface="Calibri (MS)"/>
                <a:ea typeface="Calibri (MS)"/>
              </a:rPr>
              <a:t>7 February 2026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Freeform 10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Freeform 13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975755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7A23310-C891-76B8-5606-BF090AF064E3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230041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447329024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7C207FE3-660D-304C-1235-490C48D08D2A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00" fill="hold"/>
                                        <p:tgtEl>
                                          <p:spTgt spid="14726475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1472647515"/>
                </p:tgtEl>
              </p:cMediaNode>
            </p:video>
            <p:seq>
              <p:cTn id="7" restart="whenNotActive" fill="hold" nodeType="interactiveSeq">
                <p:stCondLst>
                  <p:cond evt="onClick" delay="0">
                    <p:tgtEl>
                      <p:spTgt spid="1472647515"/>
                    </p:tgtEl>
                  </p:cond>
                </p:stCondLst>
                <p:childTnLst>
                  <p:par>
                    <p:cTn id="8" fill="hold">
                      <p:stCondLst>
                        <p:cond evt="onClick" delay="0">
                          <p:tgtEl>
                            <p:spTgt spid="1472647515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726475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302857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46701723" name="Group 3"/>
          <p:cNvGrpSpPr/>
          <p:nvPr/>
        </p:nvGrpSpPr>
        <p:grpSpPr bwMode="auto">
          <a:xfrm>
            <a:off x="914400" y="-116640"/>
            <a:ext cx="16458840" cy="1735560"/>
            <a:chOff x="914400" y="-116640"/>
            <a:chExt cx="16458840" cy="1735560"/>
          </a:xfrm>
        </p:grpSpPr>
        <p:sp>
          <p:nvSpPr>
            <p:cNvPr id="220" name="Freeform 4"/>
            <p:cNvSpPr/>
            <p:nvPr/>
          </p:nvSpPr>
          <p:spPr bwMode="auto">
            <a:xfrm>
              <a:off x="914400" y="-954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TextBox 5"/>
            <p:cNvSpPr/>
            <p:nvPr/>
          </p:nvSpPr>
          <p:spPr bwMode="auto">
            <a:xfrm>
              <a:off x="914400" y="-11664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 ADVANTAGES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30125503" name="TextBox 6"/>
          <p:cNvSpPr/>
          <p:nvPr/>
        </p:nvSpPr>
        <p:spPr bwMode="auto">
          <a:xfrm>
            <a:off x="1028879" y="1866240"/>
            <a:ext cx="1623024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790200" lvl="1" indent="-3949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Provides accurate and real-time digital distance measurement with minimal error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790200" lvl="1" indent="-3949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Compact and portable design ensures ease of handling and operation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790200" lvl="1" indent="-3949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Cost-effective system with a simple and reliable circuit architecture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790200" lvl="1" indent="-3949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Enhances understanding of embedded systems, microcontrollers, and sensor interfacing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27214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62738EE-ED3D-A814-6696-AA80C24FD076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8721211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268652217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B69D5069-774A-4784-3311-8F32075C6C11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903336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7421765" name="Group 3"/>
          <p:cNvGrpSpPr/>
          <p:nvPr/>
        </p:nvGrpSpPr>
        <p:grpSpPr bwMode="auto">
          <a:xfrm>
            <a:off x="914400" y="-116640"/>
            <a:ext cx="16458840" cy="1735560"/>
            <a:chOff x="914400" y="-116640"/>
            <a:chExt cx="16458840" cy="1735560"/>
          </a:xfrm>
        </p:grpSpPr>
        <p:sp>
          <p:nvSpPr>
            <p:cNvPr id="234" name="Freeform 4"/>
            <p:cNvSpPr/>
            <p:nvPr/>
          </p:nvSpPr>
          <p:spPr bwMode="auto">
            <a:xfrm>
              <a:off x="914400" y="-9540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" name="TextBox 5"/>
            <p:cNvSpPr/>
            <p:nvPr/>
          </p:nvSpPr>
          <p:spPr bwMode="auto">
            <a:xfrm>
              <a:off x="914400" y="-11664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FUTURE SCOPE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25162330" name="TextBox 6"/>
          <p:cNvSpPr/>
          <p:nvPr/>
        </p:nvSpPr>
        <p:spPr bwMode="auto">
          <a:xfrm>
            <a:off x="1028879" y="1875600"/>
            <a:ext cx="16230240" cy="36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Wireless data transmission using Bluetooth or Wi-Fi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Storing measured data using memory modules or SD card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Integration with mobile applications for visualization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Improved accuracy using higher resolution encoders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5723"/>
              </a:lnSpc>
              <a:defRPr/>
            </a:pP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338566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B9EA1A8-F409-AA7F-FFC1-0DAA7444B1DC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712811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995373786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37654B08-03C5-5A08-2301-9B849B006E72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941542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6480417" name="Group 3"/>
          <p:cNvGrpSpPr/>
          <p:nvPr/>
        </p:nvGrpSpPr>
        <p:grpSpPr bwMode="auto">
          <a:xfrm>
            <a:off x="914400" y="-126359"/>
            <a:ext cx="16458840" cy="1735920"/>
            <a:chOff x="914400" y="-126359"/>
            <a:chExt cx="16458840" cy="1735920"/>
          </a:xfrm>
        </p:grpSpPr>
        <p:sp>
          <p:nvSpPr>
            <p:cNvPr id="248" name="Freeform 4"/>
            <p:cNvSpPr/>
            <p:nvPr/>
          </p:nvSpPr>
          <p:spPr bwMode="auto">
            <a:xfrm>
              <a:off x="914400" y="-10476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TextBox 5"/>
            <p:cNvSpPr/>
            <p:nvPr/>
          </p:nvSpPr>
          <p:spPr bwMode="auto">
            <a:xfrm>
              <a:off x="914400" y="-126359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 CONCLUSION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77895143" name="TextBox 6"/>
          <p:cNvSpPr/>
          <p:nvPr/>
        </p:nvSpPr>
        <p:spPr bwMode="auto">
          <a:xfrm>
            <a:off x="1028879" y="1875600"/>
            <a:ext cx="16253280" cy="50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68680" lvl="1" indent="-43452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The digital measuring tape successfully measures distance accurately using a rotary encoder and Arduino Nano.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The project demonstrates effective conversion of mechanical motion into digital data with real-time display.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marL="868320" lvl="1" indent="-434160" algn="just" defTabSz="914400">
              <a:lnSpc>
                <a:spcPts val="572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0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It serves as a simple and reliable learning platform for embedded systems and automation concepts.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5820"/>
              </a:lnSpc>
              <a:defRPr/>
            </a:pP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15"/>
          <p:cNvSpPr/>
          <p:nvPr/>
        </p:nvSpPr>
        <p:spPr bwMode="auto">
          <a:xfrm rot="0" flipH="0" flipV="0">
            <a:off x="26213040" y="19011600"/>
            <a:ext cx="426672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898989"/>
                </a:solidFill>
                <a:latin typeface="Calibri (MS)"/>
                <a:ea typeface="Calibri (MS)"/>
              </a:rPr>
              <a:t>14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12"/>
          <p:cNvSpPr/>
          <p:nvPr/>
        </p:nvSpPr>
        <p:spPr bwMode="auto">
          <a:xfrm rot="0" flipH="0" flipV="0">
            <a:off x="11887200" y="19069200"/>
            <a:ext cx="5790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2880"/>
              </a:lnSpc>
              <a:defRPr/>
            </a:pPr>
            <a:r>
              <a:rPr lang="en-US" sz="2400" b="0" u="none" strike="noStrike">
                <a:solidFill>
                  <a:srgbClr val="898989"/>
                </a:solidFill>
                <a:latin typeface="Calibri (MS)"/>
                <a:ea typeface="Calibri (MS)"/>
              </a:rPr>
              <a:t>ECD 334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0364059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0C57FA3-8ECA-2B1D-5FF0-2D00B150936E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968180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1685947070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50212298-CA72-EA09-FE40-D01680A5E2C2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598742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44159680" name="Group 3"/>
          <p:cNvGrpSpPr/>
          <p:nvPr/>
        </p:nvGrpSpPr>
        <p:grpSpPr bwMode="auto">
          <a:xfrm>
            <a:off x="914400" y="390600"/>
            <a:ext cx="16458840" cy="1735560"/>
            <a:chOff x="914400" y="390600"/>
            <a:chExt cx="16458840" cy="1735560"/>
          </a:xfrm>
        </p:grpSpPr>
        <p:sp>
          <p:nvSpPr>
            <p:cNvPr id="262" name="Freeform 4"/>
            <p:cNvSpPr/>
            <p:nvPr/>
          </p:nvSpPr>
          <p:spPr bwMode="auto">
            <a:xfrm>
              <a:off x="914400" y="411840"/>
              <a:ext cx="16458840" cy="1714320"/>
            </a:xfrm>
            <a:custGeom>
              <a:avLst/>
              <a:gdLst>
                <a:gd name="textAreaLeft" fmla="*/ 0 w 16458840"/>
                <a:gd name="textAreaRight" fmla="*/ 16459200 w 16458840"/>
                <a:gd name="textAreaTop" fmla="*/ 0 h 1714320"/>
                <a:gd name="textAreaBottom" fmla="*/ 1714680 h 1714320"/>
              </a:gdLst>
              <a:ahLst/>
              <a:cxnLst/>
              <a:rect l="textAreaLeft" t="textAreaTop" r="textAreaRight" b="textAreaBottom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TextBox 5"/>
            <p:cNvSpPr/>
            <p:nvPr/>
          </p:nvSpPr>
          <p:spPr bwMode="auto">
            <a:xfrm>
              <a:off x="914400" y="390600"/>
              <a:ext cx="1645884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7679"/>
                </a:lnSpc>
                <a:defRPr/>
              </a:pPr>
              <a:r>
                <a:rPr lang="en-US" sz="64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</a:rPr>
                <a:t>REFERENCES</a:t>
              </a:r>
              <a:endParaRPr lang="en-US" sz="6400" b="0" u="none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773974" name="TextBox 6"/>
          <p:cNvSpPr/>
          <p:nvPr/>
        </p:nvSpPr>
        <p:spPr bwMode="auto">
          <a:xfrm>
            <a:off x="1028879" y="1866240"/>
            <a:ext cx="15535079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83080" lvl="1" indent="-4417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S. P. Sabarinath, “Digital Measuring Tape,” ElectronicWings, Dec. 13, 2021.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83080" lvl="1" indent="-4417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 J. Craftsman, “How to Make a Digital Tape Measure: Step-by-Step Guide (Arduino + 3D Print),” YouTube, Apr. 2023. 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  <a:p>
            <a:pPr marL="883080" lvl="1" indent="-441720" algn="just" defTabSz="914400">
              <a:lnSpc>
                <a:spcPts val="582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650" b="0" u="none" strike="noStrike">
                <a:solidFill>
                  <a:srgbClr val="000000"/>
                </a:solidFill>
                <a:latin typeface="Times New Roman"/>
                <a:ea typeface="Times New Roman"/>
              </a:rPr>
              <a:t>Arduino Forum, “Digital Tape Measure – Decoding Serial Data,” Arduino.cc, Dec. 14, 2024.</a:t>
            </a:r>
            <a:endParaRPr lang="en-US" sz="3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Freeform 8"/>
          <p:cNvSpPr/>
          <p:nvPr/>
        </p:nvSpPr>
        <p:spPr bwMode="auto">
          <a:xfrm rot="0" flipH="0" flipV="0">
            <a:off x="609840" y="19097640"/>
            <a:ext cx="4266720" cy="55332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53320"/>
              <a:gd name="textAreaBottom" fmla="*/ 553680 h 553320"/>
            </a:gdLst>
            <a:ahLst/>
            <a:cxnLst/>
            <a:rect l="textAreaLeft" t="textAreaTop" r="textAreaRight" b="textAreaBottom"/>
            <a:pathLst>
              <a:path w="5689600" h="738293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8293"/>
                </a:lnTo>
                <a:lnTo>
                  <a:pt x="0" y="738293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Freeform 11"/>
          <p:cNvSpPr/>
          <p:nvPr/>
        </p:nvSpPr>
        <p:spPr bwMode="auto">
          <a:xfrm rot="0" flipH="0" flipV="0">
            <a:off x="1188720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Freeform 14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891963" name="PlaceHolder 3"/>
          <p:cNvSpPr>
            <a:spLocks noGrp="1"/>
          </p:cNvSpPr>
          <p:nvPr/>
        </p:nvSpPr>
        <p:spPr bwMode="auto">
          <a:xfrm>
            <a:off x="15125758" y="96260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29B9250-3F1F-9681-535F-04577D9492FA}" type="slidenum"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/>
            </a:fld>
            <a:endParaRPr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3601520" name="PlaceHolder 2"/>
          <p:cNvSpPr>
            <a:spLocks noGrp="1"/>
          </p:cNvSpPr>
          <p:nvPr/>
        </p:nvSpPr>
        <p:spPr bwMode="auto">
          <a:xfrm>
            <a:off x="7497000" y="96881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  <a:defRPr/>
            </a:pPr>
            <a:r>
              <a:rPr sz="2000"/>
              <a:t> ECD 334</a:t>
            </a:r>
            <a:endParaRPr sz="2000"/>
          </a:p>
        </p:txBody>
      </p:sp>
      <p:sp>
        <p:nvSpPr>
          <p:cNvPr id="81053629" name="PlaceHolder 1"/>
          <p:cNvSpPr>
            <a:spLocks noGrp="1"/>
          </p:cNvSpPr>
          <p:nvPr/>
        </p:nvSpPr>
        <p:spPr bwMode="auto">
          <a:xfrm>
            <a:off x="593820" y="96881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  <a:cs typeface="Calibri"/>
              </a:defRPr>
            </a:lvl1pPr>
          </a:lstStyle>
          <a:p>
            <a:pPr>
              <a:defRPr/>
            </a:pPr>
            <a:fld id="{85346D5B-4369-91DE-93B3-CCBAEB197E86}" type="datetime3">
              <a:rPr lang="en-US" sz="2000">
                <a:latin typeface="Times New Roman"/>
                <a:ea typeface="Times New Roman"/>
                <a:cs typeface="Times New Roman"/>
              </a:rPr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635823" name="Freeform 2"/>
          <p:cNvSpPr/>
          <p:nvPr/>
        </p:nvSpPr>
        <p:spPr bwMode="auto"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700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214083" name="TextBox 12"/>
          <p:cNvSpPr/>
          <p:nvPr/>
        </p:nvSpPr>
        <p:spPr bwMode="auto">
          <a:xfrm>
            <a:off x="2594519" y="4084200"/>
            <a:ext cx="12161160" cy="12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640"/>
              </a:lnSpc>
              <a:defRPr/>
            </a:pPr>
            <a:r>
              <a:rPr lang="en-US" sz="7200" b="1" u="none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THANK  YOU</a:t>
            </a:r>
            <a:endParaRPr lang="en-US" sz="7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Freeform 4"/>
          <p:cNvSpPr/>
          <p:nvPr/>
        </p:nvSpPr>
        <p:spPr bwMode="auto">
          <a:xfrm rot="0" flipH="0" flipV="0">
            <a:off x="812879" y="191250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Freeform 7"/>
          <p:cNvSpPr/>
          <p:nvPr/>
        </p:nvSpPr>
        <p:spPr bwMode="auto">
          <a:xfrm rot="0" flipH="0" flipV="0">
            <a:off x="12191760" y="19097640"/>
            <a:ext cx="5790960" cy="547200"/>
          </a:xfrm>
          <a:custGeom>
            <a:avLst/>
            <a:gdLst>
              <a:gd name="textAreaLeft" fmla="*/ 0 w 5790960"/>
              <a:gd name="textAreaRight" fmla="*/ 5791320 w 579096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7721600" h="730251" fill="norm" stroke="1" extrusionOk="0">
                <a:moveTo>
                  <a:pt x="0" y="0"/>
                </a:moveTo>
                <a:lnTo>
                  <a:pt x="7721600" y="0"/>
                </a:lnTo>
                <a:lnTo>
                  <a:pt x="7721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Freeform 10"/>
          <p:cNvSpPr/>
          <p:nvPr/>
        </p:nvSpPr>
        <p:spPr bwMode="auto">
          <a:xfrm rot="0" flipH="0" flipV="0">
            <a:off x="26213040" y="19040400"/>
            <a:ext cx="4266720" cy="547200"/>
          </a:xfrm>
          <a:custGeom>
            <a:avLst/>
            <a:gdLst>
              <a:gd name="textAreaLeft" fmla="*/ 0 w 4266720"/>
              <a:gd name="textAreaRight" fmla="*/ 4267080 w 4266720"/>
              <a:gd name="textAreaTop" fmla="*/ 0 h 547200"/>
              <a:gd name="textAreaBottom" fmla="*/ 547560 h 547200"/>
            </a:gdLst>
            <a:ahLst/>
            <a:cxnLst/>
            <a:rect l="textAreaLeft" t="textAreaTop" r="textAreaRight" b="textAreaBottom"/>
            <a:pathLst>
              <a:path w="5689600" h="730251" fill="norm" stroke="1" extrusionOk="0">
                <a:moveTo>
                  <a:pt x="0" y="0"/>
                </a:moveTo>
                <a:lnTo>
                  <a:pt x="5689600" y="0"/>
                </a:lnTo>
                <a:lnTo>
                  <a:pt x="5689600" y="730251"/>
                </a:lnTo>
                <a:lnTo>
                  <a:pt x="0" y="730251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First_Review1</dc:title>
  <dc:subject/>
  <dc:creator>Basil Thomas</dc:creator>
  <dc:description/>
  <dc:identifier>DAHA2HzXDRs</dc:identifier>
  <dc:language>en-US</dc:language>
  <cp:lastModifiedBy/>
  <cp:revision>5</cp:revision>
  <dcterms:created xsi:type="dcterms:W3CDTF">2006-08-16T00:00:00Z</dcterms:created>
  <dcterms:modified xsi:type="dcterms:W3CDTF">2026-03-25T16:34:09Z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Notes">
    <vt:i4>16</vt:i4>
  </property>
  <property fmtid="{D5CDD505-2E9C-101B-9397-08002B2CF9AE}" pid="4" name="PresentationFormat">
    <vt:lpwstr>Custom</vt:lpwstr>
  </property>
  <property fmtid="{D5CDD505-2E9C-101B-9397-08002B2CF9AE}" pid="5" name="Slides">
    <vt:i4>16</vt:i4>
  </property>
</Properties>
</file>