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900100096" y="0"/>
      </p:cViewPr>
      <p:guideLst>
        <p:guide pos="5760"/>
        <p:guide pos="324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448539" name="PlaceHolder 1"/>
          <p:cNvSpPr>
            <a:spLocks noGrp="1"/>
          </p:cNvSpPr>
          <p:nvPr>
            <p:ph type="sldImg"/>
          </p:nvPr>
        </p:nvSpPr>
        <p:spPr bwMode="auto"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133909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37528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233478328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322603758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72897359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A86BB0EA-1E27-4021-A1DA-8D16361FE706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1" hdr="1" sldNum="1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485423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104530785" name="PlaceHolder 2"/>
          <p:cNvSpPr>
            <a:spLocks noGrp="1"/>
          </p:cNvSpPr>
          <p:nvPr>
            <p:ph type="dt" idx="37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7222548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009266608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Department Name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Project /Seminar Code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286756" name="PlaceHolder 5"/>
          <p:cNvSpPr>
            <a:spLocks noGrp="1"/>
          </p:cNvSpPr>
          <p:nvPr>
            <p:ph type="ftr" idx="38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080832" name="PlaceHolder 6"/>
          <p:cNvSpPr>
            <a:spLocks noGrp="1"/>
          </p:cNvSpPr>
          <p:nvPr>
            <p:ph type="sldNum" idx="39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649878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898065003" name="PlaceHolder 2"/>
          <p:cNvSpPr>
            <a:spLocks noGrp="1"/>
          </p:cNvSpPr>
          <p:nvPr>
            <p:ph type="dt" idx="40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051051168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860451863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120346" name="PlaceHolder 5"/>
          <p:cNvSpPr>
            <a:spLocks noGrp="1"/>
          </p:cNvSpPr>
          <p:nvPr>
            <p:ph type="ftr" idx="41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0067049" name="PlaceHolder 6"/>
          <p:cNvSpPr>
            <a:spLocks noGrp="1"/>
          </p:cNvSpPr>
          <p:nvPr>
            <p:ph type="sldNum" idx="42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639142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961810321" name="PlaceHolder 2"/>
          <p:cNvSpPr>
            <a:spLocks noGrp="1"/>
          </p:cNvSpPr>
          <p:nvPr>
            <p:ph type="dt" idx="43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13541868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694404096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373301" name="PlaceHolder 5"/>
          <p:cNvSpPr>
            <a:spLocks noGrp="1"/>
          </p:cNvSpPr>
          <p:nvPr>
            <p:ph type="ftr" idx="44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847910" name="PlaceHolder 6"/>
          <p:cNvSpPr>
            <a:spLocks noGrp="1"/>
          </p:cNvSpPr>
          <p:nvPr>
            <p:ph type="sldNum" idx="45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595359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836254421" name="PlaceHolder 2"/>
          <p:cNvSpPr>
            <a:spLocks noGrp="1"/>
          </p:cNvSpPr>
          <p:nvPr>
            <p:ph type="dt" idx="43"/>
          </p:nvPr>
        </p:nvSpPr>
        <p:spPr bwMode="auto">
          <a:xfrm>
            <a:off x="5180038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061639377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259246327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112599" name="PlaceHolder 5"/>
          <p:cNvSpPr>
            <a:spLocks noGrp="1"/>
          </p:cNvSpPr>
          <p:nvPr>
            <p:ph type="ftr" idx="44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0657945" name="PlaceHolder 6"/>
          <p:cNvSpPr>
            <a:spLocks noGrp="1"/>
          </p:cNvSpPr>
          <p:nvPr>
            <p:ph type="sldNum" idx="45"/>
          </p:nvPr>
        </p:nvSpPr>
        <p:spPr bwMode="auto">
          <a:xfrm>
            <a:off x="5180038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277327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029827279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496532671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792769895" name="PlaceHolder 1"/>
          <p:cNvSpPr>
            <a:spLocks noGrp="1"/>
          </p:cNvSpPr>
          <p:nvPr>
            <p:ph type="sldImg"/>
          </p:nvPr>
        </p:nvSpPr>
        <p:spPr bwMode="auto"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994725654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671295" name="PlaceHolder 3"/>
          <p:cNvSpPr>
            <a:spLocks noGrp="1"/>
          </p:cNvSpPr>
          <p:nvPr>
            <p:ph type="sldNum" idx="46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7D7F2F9-7601-4A74-9A16-323691CF2767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070848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79512746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733557214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663481082" name="PlaceHolder 1"/>
          <p:cNvSpPr>
            <a:spLocks noGrp="1"/>
          </p:cNvSpPr>
          <p:nvPr>
            <p:ph type="sldImg"/>
          </p:nvPr>
        </p:nvSpPr>
        <p:spPr bwMode="auto"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497552928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6124868" name="PlaceHolder 3"/>
          <p:cNvSpPr>
            <a:spLocks noGrp="1"/>
          </p:cNvSpPr>
          <p:nvPr>
            <p:ph type="sldNum" idx="47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D3262DC-E81B-40E8-AD89-A932213275D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294062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05292305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694168310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470167961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044750715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4966196" name="PlaceHolder 3"/>
          <p:cNvSpPr>
            <a:spLocks noGrp="1"/>
          </p:cNvSpPr>
          <p:nvPr>
            <p:ph type="sldNum" idx="48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873DEAF-D890-45DB-90FC-9F9404F5723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53398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49913007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74538793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247428998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390136057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6394654" name="PlaceHolder 3"/>
          <p:cNvSpPr>
            <a:spLocks noGrp="1"/>
          </p:cNvSpPr>
          <p:nvPr>
            <p:ph type="sldNum" idx="49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88CAAB9-C4EE-4F61-9662-B15D2A80F966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308222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72083561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712998588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288912462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46882521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763066" name="PlaceHolder 3"/>
          <p:cNvSpPr>
            <a:spLocks noGrp="1"/>
          </p:cNvSpPr>
          <p:nvPr>
            <p:ph type="sldNum" idx="50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8158ED7-1378-41BB-9001-0EED529A7EC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65818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144332830" name="PlaceHolder 2"/>
          <p:cNvSpPr>
            <a:spLocks noGrp="1"/>
          </p:cNvSpPr>
          <p:nvPr>
            <p:ph type="dt" idx="51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740807669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140645035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‹#›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734143" name="PlaceHolder 5"/>
          <p:cNvSpPr>
            <a:spLocks noGrp="1"/>
          </p:cNvSpPr>
          <p:nvPr>
            <p:ph type="ftr" idx="52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85539" name="PlaceHolder 6"/>
          <p:cNvSpPr>
            <a:spLocks noGrp="1"/>
          </p:cNvSpPr>
          <p:nvPr>
            <p:ph type="sldNum" idx="53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402605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799254888" name="PlaceHolder 2"/>
          <p:cNvSpPr>
            <a:spLocks noGrp="1"/>
          </p:cNvSpPr>
          <p:nvPr>
            <p:ph type="dt" idx="54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763975528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625913171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762" name="PlaceHolder 5"/>
          <p:cNvSpPr>
            <a:spLocks noGrp="1"/>
          </p:cNvSpPr>
          <p:nvPr>
            <p:ph type="ftr" idx="55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434568" name="PlaceHolder 6"/>
          <p:cNvSpPr>
            <a:spLocks noGrp="1"/>
          </p:cNvSpPr>
          <p:nvPr>
            <p:ph type="sldNum" idx="56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294991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68378490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507034757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71460469" name="PlaceHolder 1"/>
          <p:cNvSpPr>
            <a:spLocks noGrp="1"/>
          </p:cNvSpPr>
          <p:nvPr>
            <p:ph type="sldImg"/>
          </p:nvPr>
        </p:nvSpPr>
        <p:spPr bwMode="auto"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921893584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982016" name="PlaceHolder 3"/>
          <p:cNvSpPr>
            <a:spLocks noGrp="1"/>
          </p:cNvSpPr>
          <p:nvPr>
            <p:ph type="sldNum" idx="57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CFBDCF0-730A-4E0B-B5E7-FE95223C3B85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185824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29446928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604145265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899131288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1408630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2088362" name="PlaceHolder 3"/>
          <p:cNvSpPr>
            <a:spLocks noGrp="1"/>
          </p:cNvSpPr>
          <p:nvPr>
            <p:ph type="sldNum" idx="58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472FC8B-AB6A-403A-A2E6-D9A0105F48B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88681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92909225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533124976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2014632973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571610044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137307" name="PlaceHolder 3"/>
          <p:cNvSpPr>
            <a:spLocks noGrp="1"/>
          </p:cNvSpPr>
          <p:nvPr>
            <p:ph type="sldNum" idx="59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B7C8BB9-EC49-4D44-82E7-F19FB72D476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527911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82360302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512144945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682053655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97979815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015004" name="PlaceHolder 3"/>
          <p:cNvSpPr>
            <a:spLocks noGrp="1"/>
          </p:cNvSpPr>
          <p:nvPr>
            <p:ph type="sldNum" idx="60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985FB29-15E9-4B58-9879-E2378CBCD57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578040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47465345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2105068880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309162080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563857394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104934" name="PlaceHolder 3"/>
          <p:cNvSpPr>
            <a:spLocks noGrp="1"/>
          </p:cNvSpPr>
          <p:nvPr>
            <p:ph type="sldNum" idx="61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C26328B-AE15-424A-B28A-610270BB3B4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69373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08913431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822924474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49875070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59465626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773098" name="PlaceHolder 3"/>
          <p:cNvSpPr>
            <a:spLocks noGrp="1"/>
          </p:cNvSpPr>
          <p:nvPr>
            <p:ph type="sldNum" idx="62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F39AD13-8262-4050-AC4C-C5783811DB4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195311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2130480"/>
            <a:ext cx="7772039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9858330" name="PlaceHolder 2"/>
          <p:cNvSpPr>
            <a:spLocks noGrp="1"/>
          </p:cNvSpPr>
          <p:nvPr>
            <p:ph type="dt" idx="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31D0F683-BECF-D1B7-CB0B-F51A1467B323}" type="datetime3">
              <a:rPr lang="en-US"/>
              <a:t>25 March 2026</a:t>
            </a:fld>
            <a:endParaRPr/>
          </a:p>
        </p:txBody>
      </p:sp>
      <p:sp>
        <p:nvSpPr>
          <p:cNvPr id="1890964056" name="PlaceHolder 3"/>
          <p:cNvSpPr>
            <a:spLocks noGrp="1"/>
          </p:cNvSpPr>
          <p:nvPr>
            <p:ph type="ftr" idx="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143770699" name="PlaceHolder 4"/>
          <p:cNvSpPr>
            <a:spLocks noGrp="1"/>
          </p:cNvSpPr>
          <p:nvPr>
            <p:ph type="sldNum" idx="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8B76A18-A170-4BD3-975A-5058BF4614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4195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782015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7403099" name="PlaceHolder 3"/>
          <p:cNvSpPr>
            <a:spLocks noGrp="1"/>
          </p:cNvSpPr>
          <p:nvPr>
            <p:ph type="dt" idx="4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B39ED391-454F-F0FE-3241-1CC096CF51A3}" type="datetime3">
              <a:rPr lang="en-US"/>
              <a:t>25 March 2026</a:t>
            </a:fld>
            <a:endParaRPr/>
          </a:p>
        </p:txBody>
      </p:sp>
      <p:sp>
        <p:nvSpPr>
          <p:cNvPr id="80438288" name="PlaceHolder 4"/>
          <p:cNvSpPr>
            <a:spLocks noGrp="1"/>
          </p:cNvSpPr>
          <p:nvPr>
            <p:ph type="ftr" idx="5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962897021" name="PlaceHolder 5"/>
          <p:cNvSpPr>
            <a:spLocks noGrp="1"/>
          </p:cNvSpPr>
          <p:nvPr>
            <p:ph type="sldNum" idx="6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92C235E-706B-45A2-BEC4-9F34CF9344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69630" name="PlaceHolder 1"/>
          <p:cNvSpPr>
            <a:spLocks noGrp="1"/>
          </p:cNvSpPr>
          <p:nvPr>
            <p:ph type="title"/>
          </p:nvPr>
        </p:nvSpPr>
        <p:spPr bwMode="auto"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575804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2414036" name="PlaceHolder 3"/>
          <p:cNvSpPr>
            <a:spLocks noGrp="1"/>
          </p:cNvSpPr>
          <p:nvPr>
            <p:ph type="dt" idx="7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EBAF2118-A3B2-FF74-AB84-2F637A5ED3D2}" type="datetime3">
              <a:rPr lang="en-US"/>
              <a:t>25 March 2026</a:t>
            </a:fld>
            <a:endParaRPr/>
          </a:p>
        </p:txBody>
      </p:sp>
      <p:sp>
        <p:nvSpPr>
          <p:cNvPr id="1158407022" name="PlaceHolder 4"/>
          <p:cNvSpPr>
            <a:spLocks noGrp="1"/>
          </p:cNvSpPr>
          <p:nvPr>
            <p:ph type="ftr" idx="8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948259587" name="PlaceHolder 5"/>
          <p:cNvSpPr>
            <a:spLocks noGrp="1"/>
          </p:cNvSpPr>
          <p:nvPr>
            <p:ph type="sldNum" idx="9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2676CCB-C1DF-433E-A091-7E421A0D06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01328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158280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7142053" name="PlaceHolder 3"/>
          <p:cNvSpPr>
            <a:spLocks noGrp="1"/>
          </p:cNvSpPr>
          <p:nvPr>
            <p:ph type="dt" idx="10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E5700180-8608-BC8D-833A-F18F3B3E52C3}" type="datetime3">
              <a:rPr lang="en-US"/>
              <a:t>25 March 2026</a:t>
            </a:fld>
            <a:endParaRPr/>
          </a:p>
        </p:txBody>
      </p:sp>
      <p:sp>
        <p:nvSpPr>
          <p:cNvPr id="887110799" name="PlaceHolder 4"/>
          <p:cNvSpPr>
            <a:spLocks noGrp="1"/>
          </p:cNvSpPr>
          <p:nvPr>
            <p:ph type="ftr" idx="11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831364133" name="PlaceHolder 5"/>
          <p:cNvSpPr>
            <a:spLocks noGrp="1"/>
          </p:cNvSpPr>
          <p:nvPr>
            <p:ph type="sldNum" idx="12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805CDAC-8E88-4219-87DB-CBB734DF98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341720" name="PlaceHolder 1"/>
          <p:cNvSpPr>
            <a:spLocks noGrp="1"/>
          </p:cNvSpPr>
          <p:nvPr>
            <p:ph type="title"/>
          </p:nvPr>
        </p:nvSpPr>
        <p:spPr bwMode="auto">
          <a:xfrm>
            <a:off x="722160" y="4406760"/>
            <a:ext cx="7772039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4000" b="1" u="none" strike="noStrike" cap="all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1434627" name="PlaceHolder 2"/>
          <p:cNvSpPr>
            <a:spLocks noGrp="1"/>
          </p:cNvSpPr>
          <p:nvPr>
            <p:ph type="body"/>
          </p:nvPr>
        </p:nvSpPr>
        <p:spPr bwMode="auto">
          <a:xfrm>
            <a:off x="722160" y="2906640"/>
            <a:ext cx="7772039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634287133" name="PlaceHolder 3"/>
          <p:cNvSpPr>
            <a:spLocks noGrp="1"/>
          </p:cNvSpPr>
          <p:nvPr>
            <p:ph type="dt" idx="13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F14C3BE1-0511-F431-4DC3-CABE3BC1CC92}" type="datetime3">
              <a:rPr lang="en-US"/>
              <a:t>25 March 2026</a:t>
            </a:fld>
            <a:endParaRPr/>
          </a:p>
        </p:txBody>
      </p:sp>
      <p:sp>
        <p:nvSpPr>
          <p:cNvPr id="43091117" name="PlaceHolder 4"/>
          <p:cNvSpPr>
            <a:spLocks noGrp="1"/>
          </p:cNvSpPr>
          <p:nvPr>
            <p:ph type="ftr" idx="14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873485347" name="PlaceHolder 5"/>
          <p:cNvSpPr>
            <a:spLocks noGrp="1"/>
          </p:cNvSpPr>
          <p:nvPr>
            <p:ph type="sldNum" idx="15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9DA1BC0-8117-403D-9576-4BE9448C41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9591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761107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9674212" name="PlaceHolder 3"/>
          <p:cNvSpPr>
            <a:spLocks noGrp="1"/>
          </p:cNvSpPr>
          <p:nvPr>
            <p:ph type="body"/>
          </p:nvPr>
        </p:nvSpPr>
        <p:spPr bwMode="auto"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338581" name="PlaceHolder 4"/>
          <p:cNvSpPr>
            <a:spLocks noGrp="1"/>
          </p:cNvSpPr>
          <p:nvPr>
            <p:ph type="dt" idx="16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D921330D-92E4-5F5F-8AF1-F1D014BD4BB7}" type="datetime3">
              <a:rPr lang="en-US"/>
              <a:t>25 March 2026</a:t>
            </a:fld>
            <a:endParaRPr/>
          </a:p>
        </p:txBody>
      </p:sp>
      <p:sp>
        <p:nvSpPr>
          <p:cNvPr id="415465701" name="PlaceHolder 5"/>
          <p:cNvSpPr>
            <a:spLocks noGrp="1"/>
          </p:cNvSpPr>
          <p:nvPr>
            <p:ph type="ftr" idx="17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648604532" name="PlaceHolder 6"/>
          <p:cNvSpPr>
            <a:spLocks noGrp="1"/>
          </p:cNvSpPr>
          <p:nvPr>
            <p:ph type="sldNum" idx="18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983159C-CF76-42BB-AFCA-AF410BB991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22043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06304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8143002" name="PlaceHolder 3"/>
          <p:cNvSpPr>
            <a:spLocks noGrp="1"/>
          </p:cNvSpPr>
          <p:nvPr>
            <p:ph type="body"/>
          </p:nvPr>
        </p:nvSpPr>
        <p:spPr bwMode="auto"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1065645" name="PlaceHolder 4"/>
          <p:cNvSpPr>
            <a:spLocks noGrp="1"/>
          </p:cNvSpPr>
          <p:nvPr>
            <p:ph type="body"/>
          </p:nvPr>
        </p:nvSpPr>
        <p:spPr bwMode="auto"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0435494" name="PlaceHolder 5"/>
          <p:cNvSpPr>
            <a:spLocks noGrp="1"/>
          </p:cNvSpPr>
          <p:nvPr>
            <p:ph type="body"/>
          </p:nvPr>
        </p:nvSpPr>
        <p:spPr bwMode="auto"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4370972" name="PlaceHolder 6"/>
          <p:cNvSpPr>
            <a:spLocks noGrp="1"/>
          </p:cNvSpPr>
          <p:nvPr>
            <p:ph type="dt" idx="19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504E625D-6602-A843-B7AE-43584CD0D1E1}" type="datetime3">
              <a:rPr lang="en-US"/>
              <a:t>25 March 2026</a:t>
            </a:fld>
            <a:endParaRPr/>
          </a:p>
        </p:txBody>
      </p:sp>
      <p:sp>
        <p:nvSpPr>
          <p:cNvPr id="217860533" name="PlaceHolder 7"/>
          <p:cNvSpPr>
            <a:spLocks noGrp="1"/>
          </p:cNvSpPr>
          <p:nvPr>
            <p:ph type="ftr" idx="20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773434809" name="PlaceHolder 8"/>
          <p:cNvSpPr>
            <a:spLocks noGrp="1"/>
          </p:cNvSpPr>
          <p:nvPr>
            <p:ph type="sldNum" idx="21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AA47B01-1DF8-440F-B832-AF7998AED7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16317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918613" name="PlaceHolder 2"/>
          <p:cNvSpPr>
            <a:spLocks noGrp="1"/>
          </p:cNvSpPr>
          <p:nvPr>
            <p:ph type="dt" idx="22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6AA60858-49B2-B162-414E-E45BD468135C}" type="datetime3">
              <a:rPr lang="en-US"/>
              <a:t>25 March 2026</a:t>
            </a:fld>
            <a:endParaRPr/>
          </a:p>
        </p:txBody>
      </p:sp>
      <p:sp>
        <p:nvSpPr>
          <p:cNvPr id="751335381" name="PlaceHolder 3"/>
          <p:cNvSpPr>
            <a:spLocks noGrp="1"/>
          </p:cNvSpPr>
          <p:nvPr>
            <p:ph type="ftr" idx="23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508462770" name="PlaceHolder 4"/>
          <p:cNvSpPr>
            <a:spLocks noGrp="1"/>
          </p:cNvSpPr>
          <p:nvPr>
            <p:ph type="sldNum" idx="24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C0A13CF-C180-4B37-9625-42530CEB0C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939085" name="PlaceHolder 1"/>
          <p:cNvSpPr>
            <a:spLocks noGrp="1"/>
          </p:cNvSpPr>
          <p:nvPr>
            <p:ph type="dt" idx="25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80EB2310-E364-5236-2466-37EB451F024E}" type="datetime3">
              <a:rPr lang="en-US"/>
              <a:t>25 March 2026</a:t>
            </a:fld>
            <a:endParaRPr/>
          </a:p>
        </p:txBody>
      </p:sp>
      <p:sp>
        <p:nvSpPr>
          <p:cNvPr id="853438189" name="PlaceHolder 2"/>
          <p:cNvSpPr>
            <a:spLocks noGrp="1"/>
          </p:cNvSpPr>
          <p:nvPr>
            <p:ph type="ftr" idx="26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993744540" name="PlaceHolder 3"/>
          <p:cNvSpPr>
            <a:spLocks noGrp="1"/>
          </p:cNvSpPr>
          <p:nvPr>
            <p:ph type="sldNum" idx="27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9713885-99AA-42FC-A813-D2E9E7DEA7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732803" name="PlaceHolder 4"/>
          <p:cNvSpPr>
            <a:spLocks noGrp="1"/>
          </p:cNvSpPr>
          <p:nvPr>
            <p:ph type="title"/>
          </p:nvPr>
        </p:nvSpPr>
        <p:spPr bwMode="auto"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333364" name="PlaceHolder 5"/>
          <p:cNvSpPr>
            <a:spLocks noGrp="1"/>
          </p:cNvSpPr>
          <p:nvPr>
            <p:ph type="body"/>
          </p:nvPr>
        </p:nvSpPr>
        <p:spPr bwMode="auto"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34207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20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3333640" name="PlaceHolder 2"/>
          <p:cNvSpPr>
            <a:spLocks noGrp="1"/>
          </p:cNvSpPr>
          <p:nvPr>
            <p:ph type="body"/>
          </p:nvPr>
        </p:nvSpPr>
        <p:spPr bwMode="auto"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867143" name="PlaceHolder 3"/>
          <p:cNvSpPr>
            <a:spLocks noGrp="1"/>
          </p:cNvSpPr>
          <p:nvPr>
            <p:ph type="body"/>
          </p:nvPr>
        </p:nvSpPr>
        <p:spPr bwMode="auto"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9307763" name="PlaceHolder 4"/>
          <p:cNvSpPr>
            <a:spLocks noGrp="1"/>
          </p:cNvSpPr>
          <p:nvPr>
            <p:ph type="dt" idx="28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3521475E-92FD-C401-A70F-B5D5C416866F}" type="datetime3">
              <a:rPr lang="en-US"/>
              <a:t>25 March 2026</a:t>
            </a:fld>
            <a:endParaRPr/>
          </a:p>
        </p:txBody>
      </p:sp>
      <p:sp>
        <p:nvSpPr>
          <p:cNvPr id="1394127601" name="PlaceHolder 5"/>
          <p:cNvSpPr>
            <a:spLocks noGrp="1"/>
          </p:cNvSpPr>
          <p:nvPr>
            <p:ph type="ftr" idx="29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285393973" name="PlaceHolder 6"/>
          <p:cNvSpPr>
            <a:spLocks noGrp="1"/>
          </p:cNvSpPr>
          <p:nvPr>
            <p:ph type="sldNum" idx="30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8B802C2-5707-42E2-A50E-237044F259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735482" name="PlaceHolder 1"/>
          <p:cNvSpPr>
            <a:spLocks noGrp="1"/>
          </p:cNvSpPr>
          <p:nvPr>
            <p:ph type="title"/>
          </p:nvPr>
        </p:nvSpPr>
        <p:spPr bwMode="auto">
          <a:xfrm>
            <a:off x="1792440" y="4800600"/>
            <a:ext cx="5486039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20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2756932" name="PlaceHolder 2"/>
          <p:cNvSpPr>
            <a:spLocks noGrp="1"/>
          </p:cNvSpPr>
          <p:nvPr>
            <p:ph type="body"/>
          </p:nvPr>
        </p:nvSpPr>
        <p:spPr bwMode="auto">
          <a:xfrm>
            <a:off x="1792440" y="612720"/>
            <a:ext cx="5486039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algn="l" defTabSz="914400"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457200"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914400"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1371600"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1828800"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0905660" name="PlaceHolder 3"/>
          <p:cNvSpPr>
            <a:spLocks noGrp="1"/>
          </p:cNvSpPr>
          <p:nvPr>
            <p:ph type="body"/>
          </p:nvPr>
        </p:nvSpPr>
        <p:spPr bwMode="auto">
          <a:xfrm>
            <a:off x="1792440" y="5367240"/>
            <a:ext cx="5486039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3844007" name="PlaceHolder 4"/>
          <p:cNvSpPr>
            <a:spLocks noGrp="1"/>
          </p:cNvSpPr>
          <p:nvPr>
            <p:ph type="dt" idx="3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68625247-A356-8518-51DB-8C0EC5F3BC0C}" type="datetime3">
              <a:rPr lang="en-US"/>
              <a:t>25 March 2026</a:t>
            </a:fld>
            <a:endParaRPr/>
          </a:p>
        </p:txBody>
      </p:sp>
      <p:sp>
        <p:nvSpPr>
          <p:cNvPr id="259627571" name="PlaceHolder 5"/>
          <p:cNvSpPr>
            <a:spLocks noGrp="1"/>
          </p:cNvSpPr>
          <p:nvPr>
            <p:ph type="ftr" idx="3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262060155" name="PlaceHolder 6"/>
          <p:cNvSpPr>
            <a:spLocks noGrp="1"/>
          </p:cNvSpPr>
          <p:nvPr>
            <p:ph type="sldNum" idx="3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7954D1A-299A-4C40-80CE-548877FD93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microsoft.com/office/2007/relationships/media" Target="../media/media1.mp4"/><Relationship Id="rId7" Type="http://schemas.openxmlformats.org/officeDocument/2006/relationships/video" Target="../media/media1.mp4" /><Relationship Id="rId8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269331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971838" name="TextBox 3"/>
          <p:cNvSpPr/>
          <p:nvPr/>
        </p:nvSpPr>
        <p:spPr bwMode="auto">
          <a:xfrm>
            <a:off x="822240" y="6346800"/>
            <a:ext cx="6674760" cy="28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Guided by: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Prof.  Teena Abraham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Assistant Professor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Mr. Eldhose Joy, Tradesman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ECE Department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66343756" name="Group 7"/>
          <p:cNvGrpSpPr/>
          <p:nvPr/>
        </p:nvGrpSpPr>
        <p:grpSpPr bwMode="auto">
          <a:xfrm>
            <a:off x="714240" y="405000"/>
            <a:ext cx="1892520" cy="1676160"/>
            <a:chOff x="714240" y="405000"/>
            <a:chExt cx="1892520" cy="1676160"/>
          </a:xfrm>
        </p:grpSpPr>
        <p:sp>
          <p:nvSpPr>
            <p:cNvPr id="73" name="Freeform 8" descr="C:\Users\Admin\Desktop\ECL 201\MBITS LOGO.png"/>
            <p:cNvSpPr/>
            <p:nvPr/>
          </p:nvSpPr>
          <p:spPr bwMode="auto">
            <a:xfrm>
              <a:off x="714240" y="405000"/>
              <a:ext cx="1892520" cy="1676160"/>
            </a:xfrm>
            <a:custGeom>
              <a:avLst/>
              <a:gdLst>
                <a:gd name="textAreaLeft" fmla="*/ 0 w 1892520"/>
                <a:gd name="textAreaRight" fmla="*/ 1892880 w 1892520"/>
                <a:gd name="textAreaTop" fmla="*/ 0 h 1676160"/>
                <a:gd name="textAreaBottom" fmla="*/ 1676520 h 1676160"/>
              </a:gdLst>
              <a:ahLst/>
              <a:cxnLst/>
              <a:rect l="textAreaLeft" t="textAreaTop" r="textAreaRight" b="textAreaBottom"/>
              <a:pathLst>
                <a:path w="2523998" h="2235200" fill="norm" stroke="1" extrusionOk="0">
                  <a:moveTo>
                    <a:pt x="0" y="0"/>
                  </a:moveTo>
                  <a:lnTo>
                    <a:pt x="2523998" y="0"/>
                  </a:lnTo>
                  <a:lnTo>
                    <a:pt x="2523998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86612220" name="TextBox 9"/>
          <p:cNvSpPr/>
          <p:nvPr/>
        </p:nvSpPr>
        <p:spPr bwMode="auto">
          <a:xfrm>
            <a:off x="11189880" y="6346800"/>
            <a:ext cx="6069240" cy="22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Presented by: S6 ECE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Jesald Tony (MBI23EC015)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Richard S Areckal (MBI23EC020)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Sreejith VB (MBI23EC023)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300278" name="Group 10"/>
          <p:cNvGrpSpPr/>
          <p:nvPr/>
        </p:nvGrpSpPr>
        <p:grpSpPr bwMode="auto">
          <a:xfrm>
            <a:off x="13883040" y="-1660680"/>
            <a:ext cx="5286600" cy="5943240"/>
            <a:chOff x="13883040" y="-1660680"/>
            <a:chExt cx="5286600" cy="5943240"/>
          </a:xfrm>
        </p:grpSpPr>
        <p:sp>
          <p:nvSpPr>
            <p:cNvPr id="76" name="Freeform 11"/>
            <p:cNvSpPr/>
            <p:nvPr/>
          </p:nvSpPr>
          <p:spPr bwMode="auto">
            <a:xfrm>
              <a:off x="13883040" y="-1660680"/>
              <a:ext cx="5286600" cy="5943240"/>
            </a:xfrm>
            <a:custGeom>
              <a:avLst/>
              <a:gdLst>
                <a:gd name="textAreaLeft" fmla="*/ 0 w 5286600"/>
                <a:gd name="textAreaRight" fmla="*/ 5286960 w 5286600"/>
                <a:gd name="textAreaTop" fmla="*/ 0 h 5943240"/>
                <a:gd name="textAreaBottom" fmla="*/ 5943600 h 5943240"/>
              </a:gdLst>
              <a:ahLst/>
              <a:cxnLst/>
              <a:rect l="textAreaLeft" t="textAreaTop" r="textAreaRight" b="textAreaBottom"/>
              <a:pathLst>
                <a:path w="7049262" h="7924800" fill="norm" stroke="1" extrusionOk="0">
                  <a:moveTo>
                    <a:pt x="0" y="0"/>
                  </a:moveTo>
                  <a:lnTo>
                    <a:pt x="7049262" y="0"/>
                  </a:lnTo>
                  <a:lnTo>
                    <a:pt x="7049262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1064548" name="TextBox 12"/>
          <p:cNvSpPr/>
          <p:nvPr/>
        </p:nvSpPr>
        <p:spPr bwMode="auto">
          <a:xfrm>
            <a:off x="2737440" y="626040"/>
            <a:ext cx="140212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MAR BASELIOS INSTITUTE OF TECHNOLOGY AND SCIENCE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536370" name="TextBox 19"/>
          <p:cNvSpPr/>
          <p:nvPr/>
        </p:nvSpPr>
        <p:spPr bwMode="auto">
          <a:xfrm>
            <a:off x="2006640" y="1826640"/>
            <a:ext cx="14758558" cy="27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DEPARTMENT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OF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ELECTRONICS AND COMMUNICATION ENGINEERING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 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MINIPROJECT FINAL REVIEW ON THE TOPIC 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312845" name="TextBox 20"/>
          <p:cNvSpPr/>
          <p:nvPr/>
        </p:nvSpPr>
        <p:spPr bwMode="auto">
          <a:xfrm>
            <a:off x="853560" y="4707000"/>
            <a:ext cx="1658088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640"/>
              </a:lnSpc>
              <a:defRPr/>
            </a:pPr>
            <a:r>
              <a:rPr lang="en-US" sz="48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DIGITAL MEASURING TAPE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548574" name="Freeform 14"/>
          <p:cNvSpPr/>
          <p:nvPr/>
        </p:nvSpPr>
        <p:spPr bwMode="auto">
          <a:xfrm rot="0" flipH="0" flipV="0">
            <a:off x="914400" y="1909764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400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400"/>
                </a:lnTo>
                <a:lnTo>
                  <a:pt x="0" y="73040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706909" name="PlaceHolder 3"/>
          <p:cNvSpPr>
            <a:spLocks noGrp="1"/>
          </p:cNvSpPr>
          <p:nvPr>
            <p:ph type="sldNum" idx="27"/>
          </p:nvPr>
        </p:nvSpPr>
        <p:spPr bwMode="auto">
          <a:xfrm>
            <a:off x="15125760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389F4D0-8F66-90AE-36B7-D7FB63CD554B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0607424" name="PlaceHolder 2"/>
          <p:cNvSpPr>
            <a:spLocks noGrp="1"/>
          </p:cNvSpPr>
          <p:nvPr>
            <p:ph type="ftr" idx="26"/>
          </p:nvPr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350593997" name="PlaceHolder 1"/>
          <p:cNvSpPr>
            <a:spLocks noGrp="1"/>
          </p:cNvSpPr>
          <p:nvPr>
            <p:ph type="dt" idx="25"/>
          </p:nvPr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25321AE3-3EB9-F4F8-2151-C491257E384E}" type="datetime3">
              <a:rPr lang="en-US" sz="2000">
                <a:latin typeface="Times New Roman"/>
                <a:ea typeface="Times New Roman"/>
                <a:cs typeface="Times New Roman"/>
              </a:rPr>
              <a:t>25 March 2026</a:t>
            </a:fld>
            <a:endParaRPr/>
          </a:p>
        </p:txBody>
      </p:sp>
      <p:sp>
        <p:nvSpPr>
          <p:cNvPr id="1335416906" name="Freeform 17"/>
          <p:cNvSpPr/>
          <p:nvPr/>
        </p:nvSpPr>
        <p:spPr bwMode="auto">
          <a:xfrm rot="0" flipH="0" flipV="0">
            <a:off x="12191760" y="19104840"/>
            <a:ext cx="5790960" cy="71784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717840"/>
              <a:gd name="textAreaBottom" fmla="*/ 718200 h 717840"/>
            </a:gdLst>
            <a:ahLst/>
            <a:cxnLst/>
            <a:rect l="textAreaLeft" t="textAreaTop" r="textAreaRight" b="textAreaBottom"/>
            <a:pathLst>
              <a:path w="7721600" h="957566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957566"/>
                </a:lnTo>
                <a:lnTo>
                  <a:pt x="0" y="957566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167169" name="Freeform 5"/>
          <p:cNvSpPr/>
          <p:nvPr/>
        </p:nvSpPr>
        <p:spPr bwMode="auto">
          <a:xfrm rot="0" flipH="0" flipV="0">
            <a:off x="26213040" y="1904040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400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400"/>
                </a:lnTo>
                <a:lnTo>
                  <a:pt x="0" y="73040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293986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82205618" name="Group 3"/>
          <p:cNvGrpSpPr/>
          <p:nvPr/>
        </p:nvGrpSpPr>
        <p:grpSpPr bwMode="auto">
          <a:xfrm>
            <a:off x="3920040" y="99359"/>
            <a:ext cx="10447560" cy="1304280"/>
            <a:chOff x="3920040" y="99359"/>
            <a:chExt cx="10447560" cy="1304280"/>
          </a:xfrm>
        </p:grpSpPr>
        <p:sp>
          <p:nvSpPr>
            <p:cNvPr id="88" name="Freeform 4"/>
            <p:cNvSpPr/>
            <p:nvPr/>
          </p:nvSpPr>
          <p:spPr bwMode="auto">
            <a:xfrm>
              <a:off x="3920040" y="120960"/>
              <a:ext cx="10447560" cy="1282680"/>
            </a:xfrm>
            <a:custGeom>
              <a:avLst/>
              <a:gdLst>
                <a:gd name="textAreaLeft" fmla="*/ 0 w 10447560"/>
                <a:gd name="textAreaRight" fmla="*/ 10447920 w 10447560"/>
                <a:gd name="textAreaTop" fmla="*/ 0 h 1282680"/>
                <a:gd name="textAreaBottom" fmla="*/ 1283040 h 1282680"/>
              </a:gdLst>
              <a:ahLst/>
              <a:cxnLst/>
              <a:rect l="textAreaLeft" t="textAreaTop" r="textAreaRight" b="textAreaBottom"/>
              <a:pathLst>
                <a:path w="13930401" h="1710801" fill="norm" stroke="1" extrusionOk="0">
                  <a:moveTo>
                    <a:pt x="0" y="0"/>
                  </a:moveTo>
                  <a:lnTo>
                    <a:pt x="13930401" y="0"/>
                  </a:lnTo>
                  <a:lnTo>
                    <a:pt x="13930401" y="1710801"/>
                  </a:lnTo>
                  <a:lnTo>
                    <a:pt x="0" y="1710801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TextBox 5"/>
            <p:cNvSpPr/>
            <p:nvPr/>
          </p:nvSpPr>
          <p:spPr bwMode="auto">
            <a:xfrm>
              <a:off x="3920040" y="99359"/>
              <a:ext cx="10447560" cy="130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OUTLINE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21718309" name="TextBox 6"/>
          <p:cNvSpPr/>
          <p:nvPr/>
        </p:nvSpPr>
        <p:spPr bwMode="auto">
          <a:xfrm>
            <a:off x="1028879" y="1579561"/>
            <a:ext cx="16749000" cy="83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1. Introduction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2. Literature review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3. Objective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4. Design and Simulation Results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5. Block Diagram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6. Budget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7. Work Plan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8. Project Demonstration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8. Advantages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9.Future Scope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10.Conclusion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11.References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8320"/>
              </a:lnSpc>
              <a:defRPr/>
            </a:pP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330072" name="TextBox 9"/>
          <p:cNvSpPr/>
          <p:nvPr/>
        </p:nvSpPr>
        <p:spPr bwMode="auto">
          <a:xfrm rot="0" flipH="0" flipV="0">
            <a:off x="609840" y="19069200"/>
            <a:ext cx="426672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880"/>
              </a:lnSpc>
              <a:defRPr/>
            </a:pPr>
            <a:r>
              <a:rPr lang="en-US" sz="2400" b="0" i="0" u="none" strike="noStrike" cap="none" spc="0">
                <a:solidFill>
                  <a:srgbClr val="898989"/>
                </a:solidFill>
                <a:latin typeface="Calibri (MS)"/>
                <a:ea typeface="Calibri (MS)"/>
                <a:cs typeface="Calibri (MS)"/>
              </a:rPr>
              <a:t>11 March 2026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472714" name="TextBox 12"/>
          <p:cNvSpPr/>
          <p:nvPr/>
        </p:nvSpPr>
        <p:spPr bwMode="auto">
          <a:xfrm rot="0" flipH="0" flipV="0">
            <a:off x="9647280" y="19011600"/>
            <a:ext cx="885672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ECD 334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50949" name="Freeform 14"/>
          <p:cNvSpPr/>
          <p:nvPr/>
        </p:nvSpPr>
        <p:spPr bwMode="auto">
          <a:xfrm rot="0" flipH="0" flipV="0">
            <a:off x="26213040" y="1904040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400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400"/>
                </a:lnTo>
                <a:lnTo>
                  <a:pt x="0" y="73040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3857513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4840515-7F51-36A3-26E5-B0EBFA19BFF0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871242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949406336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F79C0A85-1C16-3688-750F-482279612FD1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21700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6553450" name="Group 3"/>
          <p:cNvGrpSpPr/>
          <p:nvPr/>
        </p:nvGrpSpPr>
        <p:grpSpPr bwMode="auto">
          <a:xfrm>
            <a:off x="2971800" y="-21600"/>
            <a:ext cx="12344040" cy="1490400"/>
            <a:chOff x="2971800" y="-21600"/>
            <a:chExt cx="12344040" cy="1490400"/>
          </a:xfrm>
        </p:grpSpPr>
        <p:sp>
          <p:nvSpPr>
            <p:cNvPr id="102" name="Freeform 4"/>
            <p:cNvSpPr/>
            <p:nvPr/>
          </p:nvSpPr>
          <p:spPr bwMode="auto">
            <a:xfrm>
              <a:off x="2971800" y="0"/>
              <a:ext cx="12344040" cy="1468800"/>
            </a:xfrm>
            <a:custGeom>
              <a:avLst/>
              <a:gdLst>
                <a:gd name="textAreaLeft" fmla="*/ 0 w 12344040"/>
                <a:gd name="textAreaRight" fmla="*/ 12344400 w 12344040"/>
                <a:gd name="textAreaTop" fmla="*/ 0 h 1468800"/>
                <a:gd name="textAreaBottom" fmla="*/ 1469160 h 1468800"/>
              </a:gdLst>
              <a:ahLst/>
              <a:cxnLst/>
              <a:rect l="textAreaLeft" t="textAreaTop" r="textAreaRight" b="textAreaBottom"/>
              <a:pathLst>
                <a:path w="16459200" h="1959024" fill="norm" stroke="1" extrusionOk="0">
                  <a:moveTo>
                    <a:pt x="0" y="0"/>
                  </a:moveTo>
                  <a:lnTo>
                    <a:pt x="16459200" y="0"/>
                  </a:lnTo>
                  <a:lnTo>
                    <a:pt x="16459200" y="1959024"/>
                  </a:lnTo>
                  <a:lnTo>
                    <a:pt x="0" y="195902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TextBox 5"/>
            <p:cNvSpPr/>
            <p:nvPr/>
          </p:nvSpPr>
          <p:spPr bwMode="auto">
            <a:xfrm>
              <a:off x="2971800" y="-21600"/>
              <a:ext cx="12344040" cy="149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INTRODUCTION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7895890" name="TextBox 6"/>
          <p:cNvSpPr/>
          <p:nvPr/>
        </p:nvSpPr>
        <p:spPr bwMode="auto">
          <a:xfrm>
            <a:off x="1028879" y="1875600"/>
            <a:ext cx="16230240" cy="57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A digital measuring tape is an electronic device used to measure linear distance accurately using sensors and a microcontroller.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This project uses an Arduino Nano and a rotary encoder to convert wheel rotation into digital distance values.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The measured distance is calculated electronically and displayed in real-time on a 16×2 LCD screen.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It demonstrates a practical application of embedded systems in measurement and automation.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107034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0121952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1B4EA0A-D2FE-7477-C409-E99AE14B6FB9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813935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899683255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5D4613EA-CB19-688A-3072-31861726CEEB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12443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85147263" name="Group 3"/>
          <p:cNvGrpSpPr/>
          <p:nvPr/>
        </p:nvGrpSpPr>
        <p:grpSpPr bwMode="auto">
          <a:xfrm>
            <a:off x="2971800" y="-21600"/>
            <a:ext cx="12344040" cy="1490400"/>
            <a:chOff x="2971800" y="-21600"/>
            <a:chExt cx="12344040" cy="1490400"/>
          </a:xfrm>
        </p:grpSpPr>
        <p:sp>
          <p:nvSpPr>
            <p:cNvPr id="1424112196" name="Freeform 4"/>
            <p:cNvSpPr/>
            <p:nvPr/>
          </p:nvSpPr>
          <p:spPr bwMode="auto">
            <a:xfrm>
              <a:off x="2971800" y="0"/>
              <a:ext cx="12344040" cy="1468799"/>
            </a:xfrm>
            <a:custGeom>
              <a:avLst/>
              <a:gdLst>
                <a:gd name="textAreaLeft" fmla="*/ 0 w 12344040"/>
                <a:gd name="textAreaRight" fmla="*/ 12344400 w 12344040"/>
                <a:gd name="textAreaTop" fmla="*/ 0 h 1468800"/>
                <a:gd name="textAreaBottom" fmla="*/ 1469160 h 1468800"/>
              </a:gdLst>
              <a:ahLst/>
              <a:cxnLst/>
              <a:rect l="textAreaLeft" t="textAreaTop" r="textAreaRight" b="textAreaBottom"/>
              <a:pathLst>
                <a:path w="16459200" h="1959024" fill="norm" stroke="1" extrusionOk="0">
                  <a:moveTo>
                    <a:pt x="0" y="0"/>
                  </a:moveTo>
                  <a:lnTo>
                    <a:pt x="16459200" y="0"/>
                  </a:lnTo>
                  <a:lnTo>
                    <a:pt x="16459200" y="1959024"/>
                  </a:lnTo>
                  <a:lnTo>
                    <a:pt x="0" y="195902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2995015" name="TextBox 5"/>
            <p:cNvSpPr/>
            <p:nvPr/>
          </p:nvSpPr>
          <p:spPr bwMode="auto">
            <a:xfrm>
              <a:off x="2971800" y="-21600"/>
              <a:ext cx="12344040" cy="149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8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INTRODUCTION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39999869" name="TextBox 6"/>
          <p:cNvSpPr/>
          <p:nvPr/>
        </p:nvSpPr>
        <p:spPr bwMode="auto">
          <a:xfrm>
            <a:off x="1028878" y="1875600"/>
            <a:ext cx="16268759" cy="146619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7793" lvl="1" indent="-217793" algn="just" defTabSz="914400">
              <a:lnSpc>
                <a:spcPts val="5769"/>
              </a:lnSpc>
              <a:buFont typeface="Arial"/>
              <a:buChar char="•"/>
              <a:defRPr/>
            </a:pPr>
            <a:r>
              <a:rPr sz="365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By using hardware interrupts, the Arduino ensures every pulse is recorded, even during fast movement.</a:t>
            </a: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The distance is calculated by the below equation</a:t>
            </a:r>
            <a:endParaRPr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083035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446566" name="PlaceHolder 3"/>
          <p:cNvSpPr>
            <a:spLocks noGrp="1"/>
          </p:cNvSpPr>
          <p:nvPr/>
        </p:nvSpPr>
        <p:spPr bwMode="auto">
          <a:xfrm>
            <a:off x="15125757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35017B1-B78C-CA86-E5EF-DD561C89425F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840950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307748739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A29DC3CB-D166-921A-D7E4-23FFDE2AD0DE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  <p:pic>
        <p:nvPicPr>
          <p:cNvPr id="179751904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365749" y="3497216"/>
            <a:ext cx="6573874" cy="13065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928811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6307441" name="Group 3"/>
          <p:cNvGrpSpPr/>
          <p:nvPr/>
        </p:nvGrpSpPr>
        <p:grpSpPr bwMode="auto">
          <a:xfrm>
            <a:off x="914400" y="-119520"/>
            <a:ext cx="16458840" cy="1735560"/>
            <a:chOff x="914400" y="-119520"/>
            <a:chExt cx="16458840" cy="1735560"/>
          </a:xfrm>
        </p:grpSpPr>
        <p:sp>
          <p:nvSpPr>
            <p:cNvPr id="116" name="Freeform 4"/>
            <p:cNvSpPr/>
            <p:nvPr/>
          </p:nvSpPr>
          <p:spPr bwMode="auto">
            <a:xfrm>
              <a:off x="914400" y="-9828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TextBox 5"/>
            <p:cNvSpPr/>
            <p:nvPr/>
          </p:nvSpPr>
          <p:spPr bwMode="auto">
            <a:xfrm>
              <a:off x="914400" y="-11952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LITERATURE REVIEW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105507311" name="Table 6"/>
          <p:cNvGraphicFramePr>
            <a:graphicFrameLocks xmlns:a="http://schemas.openxmlformats.org/drawingml/2006/main"/>
          </p:cNvGraphicFramePr>
          <p:nvPr/>
        </p:nvGraphicFramePr>
        <p:xfrm rot="0">
          <a:off x="1028879" y="2037600"/>
          <a:ext cx="16535160" cy="556703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01800"/>
                <a:gridCol w="3683160"/>
                <a:gridCol w="3683160"/>
                <a:gridCol w="3251879"/>
                <a:gridCol w="4114440"/>
              </a:tblGrid>
              <a:tr h="132480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SL.NO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TOPIC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AUTHOR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YEAR OF PUBLICATION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DESCRIPTION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224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Digital Measuring Tape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S. P. Sabarinath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2021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Describes the design and working of a digital measuring tape using a micro-controller and rotary encoder to measure distance electronically.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1996511676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866654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671357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370386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F9E89E1-C710-AF94-1EC1-B70AA2E1F3B3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265844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296125055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07107BD2-1E6D-E95E-EC83-3BA4E87D9BEB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661258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88864055" name="Group 3"/>
          <p:cNvGrpSpPr/>
          <p:nvPr/>
        </p:nvGrpSpPr>
        <p:grpSpPr bwMode="auto">
          <a:xfrm>
            <a:off x="914400" y="-336960"/>
            <a:ext cx="16458840" cy="2181240"/>
            <a:chOff x="914400" y="-336960"/>
            <a:chExt cx="16458840" cy="2181240"/>
          </a:xfrm>
        </p:grpSpPr>
        <p:sp>
          <p:nvSpPr>
            <p:cNvPr id="130" name="Freeform 4"/>
            <p:cNvSpPr/>
            <p:nvPr/>
          </p:nvSpPr>
          <p:spPr bwMode="auto">
            <a:xfrm>
              <a:off x="914400" y="-315720"/>
              <a:ext cx="16458840" cy="216000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2160000"/>
                <a:gd name="textAreaBottom" fmla="*/ 2160360 h 2160000"/>
              </a:gdLst>
              <a:ahLst/>
              <a:cxnLst/>
              <a:rect l="textAreaLeft" t="textAreaTop" r="textAreaRight" b="textAreaBottom"/>
              <a:pathLst>
                <a:path w="21945600" h="2880318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880318"/>
                  </a:lnTo>
                  <a:lnTo>
                    <a:pt x="0" y="288031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TextBox 5"/>
            <p:cNvSpPr/>
            <p:nvPr/>
          </p:nvSpPr>
          <p:spPr bwMode="auto">
            <a:xfrm>
              <a:off x="914400" y="-336960"/>
              <a:ext cx="16458840" cy="218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LITERATURE REVIEW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1098597369" name="Table 6"/>
          <p:cNvGraphicFramePr>
            <a:graphicFrameLocks xmlns:a="http://schemas.openxmlformats.org/drawingml/2006/main"/>
          </p:cNvGraphicFramePr>
          <p:nvPr/>
        </p:nvGraphicFramePr>
        <p:xfrm rot="0">
          <a:off x="1110834" y="1503048"/>
          <a:ext cx="16509600" cy="7974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301920"/>
                <a:gridCol w="3301920"/>
                <a:gridCol w="3301920"/>
                <a:gridCol w="3301920"/>
                <a:gridCol w="3301920"/>
              </a:tblGrid>
              <a:tr h="93132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SL.NO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TOPIC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AUTHOR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YEAR OF PUBLICATION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DESCRIPTION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516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Digital Tape Measure Using Rotary Encoder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Arduino Forum Community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2024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Discusses technical challenges and solutions in decoding encoder pulses for accurate distance measurement using Arduino.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572556581" name="TextBox 9"/>
          <p:cNvSpPr/>
          <p:nvPr/>
        </p:nvSpPr>
        <p:spPr bwMode="auto">
          <a:xfrm rot="0" flipH="0" flipV="0">
            <a:off x="609840" y="19069200"/>
            <a:ext cx="4266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898989"/>
                </a:solidFill>
                <a:latin typeface="Calibri (MS)"/>
                <a:ea typeface="Calibri (MS)"/>
                <a:cs typeface="Calibri (MS)"/>
              </a:rPr>
              <a:t>11 March 2026</a:t>
            </a:r>
            <a:endParaRPr/>
          </a:p>
        </p:txBody>
      </p:sp>
      <p:sp>
        <p:nvSpPr>
          <p:cNvPr id="1938418014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716757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855849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1C1E8F9-CB7F-81D0-BA5A-A48494295983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51714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938605717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3BF9070E-6810-72CF-FB20-4C100CC32760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963680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7501807" name="Group 3"/>
          <p:cNvGrpSpPr/>
          <p:nvPr/>
        </p:nvGrpSpPr>
        <p:grpSpPr bwMode="auto">
          <a:xfrm>
            <a:off x="914400" y="-118080"/>
            <a:ext cx="16458840" cy="1735920"/>
            <a:chOff x="914400" y="-118080"/>
            <a:chExt cx="16458840" cy="1735920"/>
          </a:xfrm>
        </p:grpSpPr>
        <p:sp>
          <p:nvSpPr>
            <p:cNvPr id="144" name="Freeform 4"/>
            <p:cNvSpPr/>
            <p:nvPr/>
          </p:nvSpPr>
          <p:spPr bwMode="auto">
            <a:xfrm>
              <a:off x="914400" y="-9648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" name="TextBox 5"/>
            <p:cNvSpPr/>
            <p:nvPr/>
          </p:nvSpPr>
          <p:spPr bwMode="auto">
            <a:xfrm>
              <a:off x="914400" y="-11808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OBJECTIVES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11017509" name="TextBox 6"/>
          <p:cNvSpPr/>
          <p:nvPr/>
        </p:nvSpPr>
        <p:spPr bwMode="auto">
          <a:xfrm>
            <a:off x="1028879" y="1875600"/>
            <a:ext cx="16287480" cy="36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Improve accessibility to quick and accurate distance measurement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Promote convenient and error-free digital measurement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Ensure ease of use with real-time visual display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Encourage awareness of modern digital measurement techniques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5723"/>
              </a:lnSpc>
              <a:defRPr/>
            </a:pP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600900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148237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9856609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401611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D111D17-E122-1930-1020-BC63D590C2BC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988622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549611162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D1AAD1E2-D0A1-F7EF-8A27-054A2ECB1DD5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115013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45487423" name="Group 3"/>
          <p:cNvGrpSpPr/>
          <p:nvPr/>
        </p:nvGrpSpPr>
        <p:grpSpPr bwMode="auto">
          <a:xfrm>
            <a:off x="914400" y="-121320"/>
            <a:ext cx="16458840" cy="1735920"/>
            <a:chOff x="914400" y="-121320"/>
            <a:chExt cx="16458840" cy="1735920"/>
          </a:xfrm>
        </p:grpSpPr>
        <p:sp>
          <p:nvSpPr>
            <p:cNvPr id="158" name="Freeform 4"/>
            <p:cNvSpPr/>
            <p:nvPr/>
          </p:nvSpPr>
          <p:spPr bwMode="auto">
            <a:xfrm>
              <a:off x="914400" y="-9972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TextBox 5"/>
            <p:cNvSpPr/>
            <p:nvPr/>
          </p:nvSpPr>
          <p:spPr bwMode="auto">
            <a:xfrm>
              <a:off x="914400" y="-12132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BLOCK DIAGRAM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41293430" name="TextBox 16"/>
          <p:cNvSpPr/>
          <p:nvPr/>
        </p:nvSpPr>
        <p:spPr bwMode="auto">
          <a:xfrm>
            <a:off x="7421039" y="8583480"/>
            <a:ext cx="3445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FIG 1: BLOCK DIAGRAM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87268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25403" y="3483801"/>
            <a:ext cx="13067916" cy="3940479"/>
          </a:xfrm>
          <a:prstGeom prst="rect">
            <a:avLst/>
          </a:prstGeom>
        </p:spPr>
      </p:pic>
      <p:sp>
        <p:nvSpPr>
          <p:cNvPr id="1638569473" name="Freeform 7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714252" name="Freeform 10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829272" name="Freeform 13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207696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E0E9969-0FDD-0E2A-5C76-8D3484999C4D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5406768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322318699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B0D5A121-4C5C-BCCC-43E3-C234EA65AFDC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6031729" name="Group 3"/>
          <p:cNvGrpSpPr/>
          <p:nvPr/>
        </p:nvGrpSpPr>
        <p:grpSpPr bwMode="auto">
          <a:xfrm>
            <a:off x="1204920" y="-114840"/>
            <a:ext cx="16458840" cy="1735560"/>
            <a:chOff x="1204920" y="-114840"/>
            <a:chExt cx="16458840" cy="1735560"/>
          </a:xfrm>
        </p:grpSpPr>
        <p:sp>
          <p:nvSpPr>
            <p:cNvPr id="173" name="Freeform 4"/>
            <p:cNvSpPr/>
            <p:nvPr/>
          </p:nvSpPr>
          <p:spPr bwMode="auto">
            <a:xfrm>
              <a:off x="1204920" y="-936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TextBox 5"/>
            <p:cNvSpPr/>
            <p:nvPr/>
          </p:nvSpPr>
          <p:spPr bwMode="auto">
            <a:xfrm>
              <a:off x="1204920" y="-1148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DESIGN AND SIMULATION RESULTS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4782468" name="Group 6"/>
          <p:cNvGrpSpPr/>
          <p:nvPr/>
        </p:nvGrpSpPr>
        <p:grpSpPr bwMode="auto">
          <a:xfrm>
            <a:off x="304920" y="9534600"/>
            <a:ext cx="4266720" cy="581760"/>
            <a:chOff x="304920" y="9534600"/>
            <a:chExt cx="4266720" cy="581760"/>
          </a:xfrm>
        </p:grpSpPr>
        <p:sp>
          <p:nvSpPr>
            <p:cNvPr id="176" name="Freeform 7"/>
            <p:cNvSpPr/>
            <p:nvPr/>
          </p:nvSpPr>
          <p:spPr bwMode="auto">
            <a:xfrm>
              <a:off x="304920" y="9563040"/>
              <a:ext cx="4266720" cy="553320"/>
            </a:xfrm>
            <a:custGeom>
              <a:avLst/>
              <a:gdLst>
                <a:gd name="textAreaLeft" fmla="*/ 0 w 4266720"/>
                <a:gd name="textAreaRight" fmla="*/ 4267080 w 4266720"/>
                <a:gd name="textAreaTop" fmla="*/ 0 h 553320"/>
                <a:gd name="textAreaBottom" fmla="*/ 553680 h 553320"/>
              </a:gdLst>
              <a:ahLst/>
              <a:cxnLst/>
              <a:rect l="textAreaLeft" t="textAreaTop" r="textAreaRight" b="textAreaBottom"/>
              <a:pathLst>
                <a:path w="5689600" h="738293" fill="norm" stroke="1" extrusionOk="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TextBox 8"/>
            <p:cNvSpPr/>
            <p:nvPr/>
          </p:nvSpPr>
          <p:spPr bwMode="auto">
            <a:xfrm>
              <a:off x="304920" y="9534600"/>
              <a:ext cx="426672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defRPr/>
              </a:pPr>
              <a:endParaRPr/>
            </a:p>
          </p:txBody>
        </p:sp>
      </p:grpSp>
      <p:grpSp>
        <p:nvGrpSpPr>
          <p:cNvPr id="431538339" name="Group 15"/>
          <p:cNvGrpSpPr/>
          <p:nvPr/>
        </p:nvGrpSpPr>
        <p:grpSpPr bwMode="auto">
          <a:xfrm>
            <a:off x="2438280" y="2621160"/>
            <a:ext cx="13992120" cy="5785560"/>
            <a:chOff x="2438280" y="2621160"/>
            <a:chExt cx="13992120" cy="5785560"/>
          </a:xfrm>
        </p:grpSpPr>
        <p:sp>
          <p:nvSpPr>
            <p:cNvPr id="185" name="Freeform 16"/>
            <p:cNvSpPr/>
            <p:nvPr/>
          </p:nvSpPr>
          <p:spPr bwMode="auto">
            <a:xfrm>
              <a:off x="2438280" y="2621160"/>
              <a:ext cx="13992120" cy="5785560"/>
            </a:xfrm>
            <a:custGeom>
              <a:avLst/>
              <a:gdLst>
                <a:gd name="textAreaLeft" fmla="*/ 0 w 13992120"/>
                <a:gd name="textAreaRight" fmla="*/ 13992480 w 13992120"/>
                <a:gd name="textAreaTop" fmla="*/ 0 h 5785560"/>
                <a:gd name="textAreaBottom" fmla="*/ 5785920 h 5785560"/>
              </a:gdLst>
              <a:ahLst/>
              <a:cxnLst/>
              <a:rect l="textAreaLeft" t="textAreaTop" r="textAreaRight" b="textAreaBottom"/>
              <a:pathLst>
                <a:path w="16937355" h="7003699" fill="norm" stroke="1" extrusionOk="0">
                  <a:moveTo>
                    <a:pt x="0" y="0"/>
                  </a:moveTo>
                  <a:lnTo>
                    <a:pt x="16937355" y="0"/>
                  </a:lnTo>
                  <a:lnTo>
                    <a:pt x="16937355" y="7003699"/>
                  </a:lnTo>
                  <a:lnTo>
                    <a:pt x="0" y="700369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3366818" name="TextBox 17"/>
          <p:cNvSpPr/>
          <p:nvPr/>
        </p:nvSpPr>
        <p:spPr bwMode="auto">
          <a:xfrm>
            <a:off x="6283440" y="8583480"/>
            <a:ext cx="57204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FIG 2: SIMULATION RESULT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660241" name="Freeform 10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3241938" name="Freeform 13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87595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B768193-869D-9BCA-F5CC-4F91F12C5F45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7323700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329807588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9E791B81-BE31-7DA2-0AC0-ED45653CB47F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420777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05227018" name="Group 3"/>
          <p:cNvGrpSpPr/>
          <p:nvPr/>
        </p:nvGrpSpPr>
        <p:grpSpPr bwMode="auto">
          <a:xfrm>
            <a:off x="914400" y="-102240"/>
            <a:ext cx="16458840" cy="1743120"/>
            <a:chOff x="914400" y="-102240"/>
            <a:chExt cx="16458840" cy="1743120"/>
          </a:xfrm>
        </p:grpSpPr>
        <p:sp>
          <p:nvSpPr>
            <p:cNvPr id="189" name="Freeform 4"/>
            <p:cNvSpPr/>
            <p:nvPr/>
          </p:nvSpPr>
          <p:spPr bwMode="auto">
            <a:xfrm>
              <a:off x="914400" y="-738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406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406"/>
                  </a:lnTo>
                  <a:lnTo>
                    <a:pt x="0" y="228640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TextBox 5"/>
            <p:cNvSpPr/>
            <p:nvPr/>
          </p:nvSpPr>
          <p:spPr bwMode="auto">
            <a:xfrm>
              <a:off x="914400" y="-102240"/>
              <a:ext cx="16458840" cy="174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200"/>
                </a:lnSpc>
                <a:defRPr/>
              </a:pPr>
              <a:r>
                <a:rPr lang="en-US" sz="60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BUDGET</a:t>
              </a:r>
              <a:endParaRPr lang="en-US" sz="60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66012797" name="TextBox 10"/>
          <p:cNvSpPr/>
          <p:nvPr/>
        </p:nvSpPr>
        <p:spPr bwMode="auto">
          <a:xfrm>
            <a:off x="-1539720" y="2088000"/>
            <a:ext cx="194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defRPr/>
            </a:pP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1664933" name="Freeform 7"/>
          <p:cNvSpPr/>
          <p:nvPr/>
        </p:nvSpPr>
        <p:spPr bwMode="auto">
          <a:xfrm rot="0" flipH="0" flipV="0">
            <a:off x="26213040" y="1904040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398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398"/>
                </a:lnTo>
                <a:lnTo>
                  <a:pt x="0" y="730398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4785092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37F85F9-7E21-F047-CD95-98F7DD574006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813731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533352491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C152702F-2642-3064-BEE0-32D91E5C5FF6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  <p:sp>
        <p:nvSpPr>
          <p:cNvPr id="1547913877" name=""/>
          <p:cNvSpPr txBox="1"/>
          <p:nvPr/>
        </p:nvSpPr>
        <p:spPr bwMode="auto">
          <a:xfrm rot="0" flipH="0" flipV="0">
            <a:off x="7911750" y="9230579"/>
            <a:ext cx="206561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>
              <a:lnSpc>
                <a:spcPts val="2879"/>
              </a:lnSpc>
              <a:defRPr/>
            </a:pPr>
            <a:r>
              <a:rPr lang="en-US" sz="22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Table 1 : Budget</a:t>
            </a:r>
            <a:endParaRPr sz="22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288624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541624" y="1498588"/>
            <a:ext cx="13514348" cy="8127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44357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5954886" name="Table 3"/>
          <p:cNvGraphicFramePr>
            <a:graphicFrameLocks xmlns:a="http://schemas.openxmlformats.org/drawingml/2006/main"/>
          </p:cNvGraphicFramePr>
          <p:nvPr/>
        </p:nvGraphicFramePr>
        <p:xfrm rot="0">
          <a:off x="1809254" y="1593359"/>
          <a:ext cx="15572520" cy="73497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991400"/>
                <a:gridCol w="10581120"/>
              </a:tblGrid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DATE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WORK DONE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11/12/2025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Decided the project topic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15/12/2025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Submitted abstract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18/12/2025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Conducted zeroth review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15/01/2026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Partially Completed the simulation part  using Arduino IDE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05/02/2026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Completed the simulation part using Arduino IDE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12/02/2026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First review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Hardware implementation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Second Review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24/03/2026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Mini-project binded report submission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26/03/2026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Final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</a:tbl>
          </a:graphicData>
        </a:graphic>
      </p:graphicFrame>
      <p:grpSp>
        <p:nvGrpSpPr>
          <p:cNvPr id="178611955" name="Group 4"/>
          <p:cNvGrpSpPr/>
          <p:nvPr/>
        </p:nvGrpSpPr>
        <p:grpSpPr bwMode="auto">
          <a:xfrm>
            <a:off x="697320" y="1265040"/>
            <a:ext cx="10991159" cy="8423100"/>
            <a:chOff x="0" y="0"/>
            <a:chExt cx="10991159" cy="8423100"/>
          </a:xfrm>
        </p:grpSpPr>
        <p:sp>
          <p:nvSpPr>
            <p:cNvPr id="199" name="Freeform 5"/>
            <p:cNvSpPr/>
            <p:nvPr/>
          </p:nvSpPr>
          <p:spPr bwMode="auto">
            <a:xfrm>
              <a:off x="0" y="0"/>
              <a:ext cx="5089320" cy="656640"/>
            </a:xfrm>
            <a:custGeom>
              <a:avLst/>
              <a:gdLst>
                <a:gd name="textAreaLeft" fmla="*/ 0 w 5089320"/>
                <a:gd name="textAreaRight" fmla="*/ 5089680 w 5089320"/>
                <a:gd name="textAreaTop" fmla="*/ 0 h 656640"/>
                <a:gd name="textAreaBottom" fmla="*/ 657000 h 656640"/>
              </a:gdLst>
              <a:ahLst/>
              <a:cxnLst/>
              <a:rect l="textAreaLeft" t="textAreaTop" r="textAreaRight" b="textAreaBottom"/>
              <a:pathLst>
                <a:path w="6786400" h="876005" fill="norm" stroke="1" extrusionOk="0">
                  <a:moveTo>
                    <a:pt x="0" y="0"/>
                  </a:moveTo>
                  <a:lnTo>
                    <a:pt x="6786400" y="0"/>
                  </a:lnTo>
                  <a:lnTo>
                    <a:pt x="6786400" y="876005"/>
                  </a:lnTo>
                  <a:lnTo>
                    <a:pt x="0" y="87600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" name="TextBox 6"/>
            <p:cNvSpPr/>
            <p:nvPr/>
          </p:nvSpPr>
          <p:spPr bwMode="auto">
            <a:xfrm>
              <a:off x="5901839" y="7759260"/>
              <a:ext cx="5089320" cy="66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880"/>
                </a:lnSpc>
                <a:defRPr/>
              </a:pPr>
              <a:r>
                <a:rPr lang="en-US" sz="2400" b="0" u="none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Table 2 : Work plan</a:t>
              </a:r>
              <a:endParaRPr lang="en-US" sz="2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1051728" name="TextBox 8"/>
          <p:cNvSpPr/>
          <p:nvPr/>
        </p:nvSpPr>
        <p:spPr bwMode="auto">
          <a:xfrm>
            <a:off x="1051200" y="-12960"/>
            <a:ext cx="1618524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0517"/>
              </a:lnSpc>
              <a:defRPr/>
            </a:pPr>
            <a:r>
              <a:rPr lang="en-US" sz="64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WORK PLAN</a:t>
            </a:r>
            <a:endParaRPr lang="en-US" sz="6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817949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4D96D37-EFEB-79FB-2633-5CB87980D1C2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0812773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996729058" name="PlaceHolder 1"/>
          <p:cNvSpPr>
            <a:spLocks noGrp="1"/>
          </p:cNvSpPr>
          <p:nvPr/>
        </p:nvSpPr>
        <p:spPr bwMode="auto">
          <a:xfrm>
            <a:off x="293717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E8098099-863D-4CBE-FCF0-EDAD93C93056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18629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20698734" name="Group 3"/>
          <p:cNvGrpSpPr/>
          <p:nvPr/>
        </p:nvGrpSpPr>
        <p:grpSpPr bwMode="auto">
          <a:xfrm>
            <a:off x="1204920" y="-114840"/>
            <a:ext cx="16458840" cy="1735560"/>
            <a:chOff x="1204920" y="-114840"/>
            <a:chExt cx="16458840" cy="1735560"/>
          </a:xfrm>
        </p:grpSpPr>
        <p:sp>
          <p:nvSpPr>
            <p:cNvPr id="205" name="Freeform 4"/>
            <p:cNvSpPr/>
            <p:nvPr/>
          </p:nvSpPr>
          <p:spPr bwMode="auto">
            <a:xfrm>
              <a:off x="1204920" y="-936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TextBox 5"/>
            <p:cNvSpPr/>
            <p:nvPr/>
          </p:nvSpPr>
          <p:spPr bwMode="auto">
            <a:xfrm>
              <a:off x="1204920" y="-1148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PROJECT DEMO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4530800" name="TextBox 16"/>
          <p:cNvSpPr/>
          <p:nvPr/>
        </p:nvSpPr>
        <p:spPr bwMode="auto">
          <a:xfrm>
            <a:off x="4662360" y="8886960"/>
            <a:ext cx="89625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VIDEO DEMONSTRATION OF DIGITAL MEASURING TAPE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221546" name="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 rotWithShape="1">
          <a:blip r:embed="rId5"/>
          <a:stretch/>
        </p:blipFill>
        <p:spPr bwMode="auto">
          <a:xfrm>
            <a:off x="2743200" y="1735920"/>
            <a:ext cx="13715640" cy="6455160"/>
          </a:xfrm>
          <a:prstGeom prst="rect">
            <a:avLst/>
          </a:prstGeom>
          <a:ln w="0">
            <a:noFill/>
          </a:ln>
        </p:spPr>
      </p:pic>
      <p:sp>
        <p:nvSpPr>
          <p:cNvPr id="652951896" name="TextBox 8"/>
          <p:cNvSpPr/>
          <p:nvPr/>
        </p:nvSpPr>
        <p:spPr bwMode="auto">
          <a:xfrm rot="0" flipH="0" flipV="0">
            <a:off x="609840" y="19069200"/>
            <a:ext cx="4266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7 February 2026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7426924" name="Freeform 10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144099" name="Freeform 13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038015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7A23310-C891-76B8-5606-BF090AF064E3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1626710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465651987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7C207FE3-660D-304C-1235-490C48D08D2A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0" fill="hold"/>
                                        <p:tgtEl>
                                          <p:spTgt spid="1542215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154221546"/>
                </p:tgtEl>
              </p:cMediaNode>
            </p:video>
            <p:seq>
              <p:cTn id="7" restart="whenNotActive" fill="hold" nodeType="interactiveSeq">
                <p:stCondLst>
                  <p:cond evt="onClick" delay="0">
                    <p:tgtEl>
                      <p:spTgt spid="154221546"/>
                    </p:tgtEl>
                  </p:cond>
                </p:stCondLst>
                <p:childTnLst>
                  <p:par>
                    <p:cTn id="8" fill="hold">
                      <p:stCondLst>
                        <p:cond evt="onClick" delay="0">
                          <p:tgtEl>
                            <p:spTgt spid="154221546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42215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227925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3994018" name="Group 3"/>
          <p:cNvGrpSpPr/>
          <p:nvPr/>
        </p:nvGrpSpPr>
        <p:grpSpPr bwMode="auto">
          <a:xfrm>
            <a:off x="914400" y="-116640"/>
            <a:ext cx="16458840" cy="1735560"/>
            <a:chOff x="914400" y="-116640"/>
            <a:chExt cx="16458840" cy="1735560"/>
          </a:xfrm>
        </p:grpSpPr>
        <p:sp>
          <p:nvSpPr>
            <p:cNvPr id="220" name="Freeform 4"/>
            <p:cNvSpPr/>
            <p:nvPr/>
          </p:nvSpPr>
          <p:spPr bwMode="auto">
            <a:xfrm>
              <a:off x="914400" y="-954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TextBox 5"/>
            <p:cNvSpPr/>
            <p:nvPr/>
          </p:nvSpPr>
          <p:spPr bwMode="auto">
            <a:xfrm>
              <a:off x="914400" y="-1166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ADVANTAGES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72561893" name="TextBox 6"/>
          <p:cNvSpPr/>
          <p:nvPr/>
        </p:nvSpPr>
        <p:spPr bwMode="auto">
          <a:xfrm>
            <a:off x="1028879" y="1866240"/>
            <a:ext cx="1623024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Provides accurate and real-time digital distance measurement with minimal error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Compact and portable design ensures ease of handling and operation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Cost-effective system with a simple and reliable circuit architecture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Enhances understanding of embedded systems, microcontrollers, and sensor interfacing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543241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900044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051367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199995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62738EE-ED3D-A814-6696-AA80C24FD076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317052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756321842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B69D5069-774A-4784-3311-8F32075C6C11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929971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73252293" name="Group 3"/>
          <p:cNvGrpSpPr/>
          <p:nvPr/>
        </p:nvGrpSpPr>
        <p:grpSpPr bwMode="auto">
          <a:xfrm>
            <a:off x="914400" y="-116640"/>
            <a:ext cx="16458840" cy="1735560"/>
            <a:chOff x="914400" y="-116640"/>
            <a:chExt cx="16458840" cy="1735560"/>
          </a:xfrm>
        </p:grpSpPr>
        <p:sp>
          <p:nvSpPr>
            <p:cNvPr id="234" name="Freeform 4"/>
            <p:cNvSpPr/>
            <p:nvPr/>
          </p:nvSpPr>
          <p:spPr bwMode="auto">
            <a:xfrm>
              <a:off x="914400" y="-954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" name="TextBox 5"/>
            <p:cNvSpPr/>
            <p:nvPr/>
          </p:nvSpPr>
          <p:spPr bwMode="auto">
            <a:xfrm>
              <a:off x="914400" y="-1166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FUTURE SCOPE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02345420" name="TextBox 6"/>
          <p:cNvSpPr/>
          <p:nvPr/>
        </p:nvSpPr>
        <p:spPr bwMode="auto">
          <a:xfrm>
            <a:off x="1028879" y="1875600"/>
            <a:ext cx="16230240" cy="36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Wireless data transmission using Bluetooth or Wi-Fi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Storing measured data using memory modules or SD card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Integration with mobile applications for visualization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Improved accuracy using higher resolution encoders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5723"/>
              </a:lnSpc>
              <a:defRPr/>
            </a:pP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596798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700639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128755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B9EA1A8-F409-AA7F-FFC1-0DAA7444B1DC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692674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64983247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37654B08-03C5-5A08-2301-9B849B006E72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552204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4364025" name="Group 3"/>
          <p:cNvGrpSpPr/>
          <p:nvPr/>
        </p:nvGrpSpPr>
        <p:grpSpPr bwMode="auto">
          <a:xfrm>
            <a:off x="914400" y="-126359"/>
            <a:ext cx="16458840" cy="1735920"/>
            <a:chOff x="914400" y="-126359"/>
            <a:chExt cx="16458840" cy="1735920"/>
          </a:xfrm>
        </p:grpSpPr>
        <p:sp>
          <p:nvSpPr>
            <p:cNvPr id="248" name="Freeform 4"/>
            <p:cNvSpPr/>
            <p:nvPr/>
          </p:nvSpPr>
          <p:spPr bwMode="auto">
            <a:xfrm>
              <a:off x="914400" y="-10476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TextBox 5"/>
            <p:cNvSpPr/>
            <p:nvPr/>
          </p:nvSpPr>
          <p:spPr bwMode="auto">
            <a:xfrm>
              <a:off x="914400" y="-126359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CONCLUSION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5213315" name="TextBox 6"/>
          <p:cNvSpPr/>
          <p:nvPr/>
        </p:nvSpPr>
        <p:spPr bwMode="auto">
          <a:xfrm>
            <a:off x="1028879" y="1875600"/>
            <a:ext cx="16253280" cy="50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The digital measuring tape successfully measures distance accurately using a rotary encoder and Arduino Nano.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The project demonstrates effective conversion of mechanical motion into digital data with real-time display.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It serves as a simple and reliable learning platform for embedded systems and automation concepts.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5820"/>
              </a:lnSpc>
              <a:defRPr/>
            </a:pP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044963" name="TextBox 15"/>
          <p:cNvSpPr/>
          <p:nvPr/>
        </p:nvSpPr>
        <p:spPr bwMode="auto">
          <a:xfrm rot="0" flipH="0" flipV="0">
            <a:off x="26213040" y="19011600"/>
            <a:ext cx="426672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14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142484" name="TextBox 12"/>
          <p:cNvSpPr/>
          <p:nvPr/>
        </p:nvSpPr>
        <p:spPr bwMode="auto">
          <a:xfrm rot="0" flipH="0" flipV="0">
            <a:off x="11887200" y="19069200"/>
            <a:ext cx="5790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ECD 334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049168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513550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0C57FA3-8ECA-2B1D-5FF0-2D00B150936E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69046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310736941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50212298-CA72-EA09-FE40-D01680A5E2C2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678871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03033062" name="Group 3"/>
          <p:cNvGrpSpPr/>
          <p:nvPr/>
        </p:nvGrpSpPr>
        <p:grpSpPr bwMode="auto">
          <a:xfrm>
            <a:off x="914400" y="390600"/>
            <a:ext cx="16458840" cy="1735560"/>
            <a:chOff x="914400" y="390600"/>
            <a:chExt cx="16458840" cy="1735560"/>
          </a:xfrm>
        </p:grpSpPr>
        <p:sp>
          <p:nvSpPr>
            <p:cNvPr id="262" name="Freeform 4"/>
            <p:cNvSpPr/>
            <p:nvPr/>
          </p:nvSpPr>
          <p:spPr bwMode="auto">
            <a:xfrm>
              <a:off x="914400" y="41184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TextBox 5"/>
            <p:cNvSpPr/>
            <p:nvPr/>
          </p:nvSpPr>
          <p:spPr bwMode="auto">
            <a:xfrm>
              <a:off x="914400" y="39060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REFERENCES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10129601" name="TextBox 6"/>
          <p:cNvSpPr/>
          <p:nvPr/>
        </p:nvSpPr>
        <p:spPr bwMode="auto">
          <a:xfrm>
            <a:off x="1028878" y="1866240"/>
            <a:ext cx="15543358" cy="73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83080" lvl="1" indent="-4417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S. P. Sabarinath, “Digital Measuring Tape,” ElectronicWings, Dec. 13, 2021.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83080" lvl="1" indent="-4417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J. Craftsman, “How to Make a Digital Tape Measure: Step-by-Step Guide (Arduino + 3D Print),” YouTube, Apr. 2023. 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83080" lvl="1" indent="-4417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Arduino Forum, “Digital Tape Measure – Decoding Serial Data,” Arduino.cc, Dec. 14, 2024.</a:t>
            </a:r>
            <a:endParaRPr lang="en-US" sz="3650" b="0" u="none" strike="noStrike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883080" lvl="1" indent="-441720" algn="just" defTabSz="914400">
              <a:lnSpc>
                <a:spcPts val="581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Atmel  Corporation, “ATmega328P 8-bit AVR Microcontroller with 32K Bytes  In- System Programmable Flash - Datasheet,” 2015.</a:t>
            </a:r>
            <a:endParaRPr lang="en-US" sz="3650" b="0" u="none" strike="noStrike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883080" lvl="1" indent="-441720" algn="just" defTabSz="914400">
              <a:lnSpc>
                <a:spcPts val="581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J.  Maini, "Digital Electronics: Principles, Devices and  Applications," John Wiley &amp; Sons, 2007.</a:t>
            </a:r>
            <a:endParaRPr lang="en-US" sz="3650" b="0" u="none" strike="noStrike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defRPr/>
            </a:pPr>
            <a:endParaRPr/>
          </a:p>
          <a:p>
            <a:pPr marL="217793" indent="-217793">
              <a:buFont typeface="Arial"/>
              <a:buChar char="•"/>
              <a:defRPr/>
            </a:pPr>
            <a:endParaRPr sz="3650"/>
          </a:p>
        </p:txBody>
      </p:sp>
      <p:sp>
        <p:nvSpPr>
          <p:cNvPr id="808472894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952695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248778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536897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29B9250-3F1F-9681-535F-04577D9492FA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218388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072182705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85346D5B-4369-91DE-93B3-CCBAEB197E86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2266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859187" name="TextBox 12"/>
          <p:cNvSpPr/>
          <p:nvPr/>
        </p:nvSpPr>
        <p:spPr bwMode="auto">
          <a:xfrm>
            <a:off x="2594519" y="4084200"/>
            <a:ext cx="12161160" cy="12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640"/>
              </a:lnSpc>
              <a:defRPr/>
            </a:pPr>
            <a:r>
              <a:rPr lang="en-US" sz="72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THANK  YOU</a:t>
            </a:r>
            <a:endParaRPr lang="en-US" sz="7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001498" name="Freeform 4"/>
          <p:cNvSpPr/>
          <p:nvPr/>
        </p:nvSpPr>
        <p:spPr bwMode="auto">
          <a:xfrm rot="0" flipH="0" flipV="0">
            <a:off x="812879" y="191250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704558" name="Freeform 7"/>
          <p:cNvSpPr/>
          <p:nvPr/>
        </p:nvSpPr>
        <p:spPr bwMode="auto">
          <a:xfrm rot="0" flipH="0" flipV="0">
            <a:off x="1219176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802182" name="Freeform 10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First_Review1</dc:title>
  <dc:subject/>
  <dc:creator>Basil Thomas</dc:creator>
  <dc:description/>
  <dc:identifier>DAHA2HzXDRs</dc:identifier>
  <dc:language>en-US</dc:language>
  <cp:lastModifiedBy/>
  <cp:revision>7</cp:revision>
  <dcterms:created xsi:type="dcterms:W3CDTF">2006-08-16T00:00:00Z</dcterms:created>
  <dcterms:modified xsi:type="dcterms:W3CDTF">2026-03-25T17:20:21Z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16</vt:i4>
  </property>
  <property fmtid="{D5CDD505-2E9C-101B-9397-08002B2CF9AE}" pid="4" name="PresentationFormat">
    <vt:lpwstr>Custom</vt:lpwstr>
  </property>
  <property fmtid="{D5CDD505-2E9C-101B-9397-08002B2CF9AE}" pid="5" name="Slides">
    <vt:i4>16</vt:i4>
  </property>
</Properties>
</file>