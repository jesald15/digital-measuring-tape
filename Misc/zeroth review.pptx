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5.xml.rels" ContentType="application/vnd.openxmlformats-package.relationships+xml"/>
  <Override PartName="/ppt/slides/_rels/slide16.xml.rels" ContentType="application/vnd.openxmlformats-package.relationshi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E9826C-8E02-499F-8F62-A839D811CA0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97494B-96A1-4562-9F19-0D5C4DB316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ftr" idx="51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DD7958-C1FC-4631-979B-8CBE874CBA85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582A5E-3299-4424-8E07-228720E7908B}" type="slidenum">
              <a:rPr b="0" lang="en-IN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54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77A592-4379-466E-8B73-82D0680A884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ACB678-BD5B-412A-98B1-41B143FA261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6481E9-DA8A-457B-8EDA-128A18EF654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ftr" idx="58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B19D3F-A031-49AE-BDF9-7877CABC3C2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Project /Seminar Code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60"/>
          </p:nvPr>
        </p:nvSpPr>
        <p:spPr>
          <a:xfrm>
            <a:off x="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84908C-13C9-4A63-9828-1D14461C948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DBAA7F-CDB3-47E5-AE68-F72DCD9D330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176C4A-FECC-4CEA-A6DC-A1E1F8650C5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2B6F1E-35CA-4F61-83EB-1D67E6A2192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F9B5F2-509B-481A-949D-58196F274F8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440" cy="87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0920" cy="438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440" cy="35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625449-452D-423E-A4A0-E8338A95B0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5680" cy="4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5680" cy="60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461B52-9097-49DD-B941-4448C01CFD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228600" y="47815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048120" y="4781520"/>
            <a:ext cx="2894760" cy="2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02D6D1-DAD9-4039-825B-5A34E56DFAB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56A8A9-3AD9-4607-A1B8-DD191F8C2F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6680" cy="43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200" cy="43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4BC1C7-610F-4EF8-AC99-4BAB868703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152280" y="4781520"/>
            <a:ext cx="2133000" cy="2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297180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134897-DA71-4111-9797-0472F760A29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1680" cy="102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1680" cy="112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FD0B57-1D93-478F-8DDE-36B3A40D723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77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B53F78-D0E4-466D-AAF6-00C1E0F9519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56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560" cy="29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000" cy="4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000" cy="29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193CAA-8A2A-4810-8008-B0176001146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>
            <a:alphaModFix amt="8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203040" y="478836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3048120" y="4781520"/>
            <a:ext cx="289476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889655-991E-4F36-82A5-D01F3DAA35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60440" y="3189600"/>
            <a:ext cx="3428280" cy="131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Guided by: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Prof. Teena Abraham, Asst Professor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Mr.Eldhose Joy, Tradesman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6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ECE DEPAR</a:t>
            </a:r>
            <a:r>
              <a:rPr b="0" lang="en-IN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37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8" name="Picture 2" descr="C:\Users\Admin\Desktop\ECL 201\MBITS LOGO.png"/>
          <p:cNvPicPr/>
          <p:nvPr/>
        </p:nvPicPr>
        <p:blipFill>
          <a:blip r:embed="rId1"/>
          <a:stretch/>
        </p:blipFill>
        <p:spPr>
          <a:xfrm>
            <a:off x="214200" y="142920"/>
            <a:ext cx="1071000" cy="102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ubtitle 2"/>
          <p:cNvSpPr/>
          <p:nvPr/>
        </p:nvSpPr>
        <p:spPr>
          <a:xfrm>
            <a:off x="5943600" y="3411000"/>
            <a:ext cx="251388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0" name="Subtitle 2"/>
          <p:cNvSpPr/>
          <p:nvPr/>
        </p:nvSpPr>
        <p:spPr>
          <a:xfrm>
            <a:off x="6629400" y="3643200"/>
            <a:ext cx="251388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0" lang="en-US" sz="32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1" name="Subtitle 2"/>
          <p:cNvSpPr/>
          <p:nvPr/>
        </p:nvSpPr>
        <p:spPr>
          <a:xfrm>
            <a:off x="1828800" y="2082240"/>
            <a:ext cx="4952160" cy="8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endParaRPr b="1" lang="en-US" sz="32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Subtitle 2"/>
          <p:cNvSpPr/>
          <p:nvPr/>
        </p:nvSpPr>
        <p:spPr>
          <a:xfrm>
            <a:off x="5200560" y="3003840"/>
            <a:ext cx="399996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7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Presented by: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Jesald Tony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Richard S Arreckal</a:t>
            </a:r>
            <a:br>
              <a:rPr sz="1400"/>
            </a:b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          Sreejith VB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 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7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S6 ECE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1151640" y="101160"/>
            <a:ext cx="710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MAR BASELIOS INSTITUTE OF TECHNOLOGY AND SCIENCE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2798280" y="437400"/>
            <a:ext cx="2619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NELLIMATTOM, KOTHAMANGALAM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38"/>
          </p:nvPr>
        </p:nvSpPr>
        <p:spPr>
          <a:xfrm>
            <a:off x="228600" y="47815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9554DE6-E2A1-48B1-881B-81B46F8C99E5}" type="datetime3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December 14, 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39"/>
          </p:nvPr>
        </p:nvSpPr>
        <p:spPr>
          <a:xfrm>
            <a:off x="2143080" y="4786200"/>
            <a:ext cx="507132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Box 16"/>
          <p:cNvSpPr/>
          <p:nvPr/>
        </p:nvSpPr>
        <p:spPr>
          <a:xfrm>
            <a:off x="1664280" y="714240"/>
            <a:ext cx="4998600" cy="73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DEPARTMENT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ELECTRONICS AND COMMUNICATION ENGINEERING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"/>
          <p:cNvSpPr/>
          <p:nvPr/>
        </p:nvSpPr>
        <p:spPr>
          <a:xfrm>
            <a:off x="784440" y="1722240"/>
            <a:ext cx="7101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ECD334   MINIPROJECT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ZEROTH REVIEW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AutoShape 2" descr="NBA Accreditation | Admission in B.tech ..."/>
          <p:cNvSpPr/>
          <p:nvPr/>
        </p:nvSpPr>
        <p:spPr>
          <a:xfrm>
            <a:off x="155520" y="-14436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AutoShape 4" descr="NBA Accreditation | Admission in B.tech ..."/>
          <p:cNvSpPr/>
          <p:nvPr/>
        </p:nvSpPr>
        <p:spPr>
          <a:xfrm>
            <a:off x="155520" y="-14436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5" descr=""/>
          <p:cNvPicPr/>
          <p:nvPr/>
        </p:nvPicPr>
        <p:blipFill>
          <a:blip r:embed="rId2"/>
          <a:stretch/>
        </p:blipFill>
        <p:spPr>
          <a:xfrm>
            <a:off x="6786720" y="437400"/>
            <a:ext cx="999360" cy="999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" name="Picture 6" descr=""/>
          <p:cNvPicPr/>
          <p:nvPr/>
        </p:nvPicPr>
        <p:blipFill>
          <a:blip r:embed="rId3"/>
          <a:stretch/>
        </p:blipFill>
        <p:spPr>
          <a:xfrm>
            <a:off x="7866000" y="470520"/>
            <a:ext cx="999360" cy="930240"/>
          </a:xfrm>
          <a:prstGeom prst="rect">
            <a:avLst/>
          </a:prstGeom>
          <a:noFill/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57200" y="214200"/>
            <a:ext cx="648252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85800" y="1000080"/>
            <a:ext cx="8457480" cy="39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Introduction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Block Diagram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Circuit Diagram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Components Required with Specification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Advantages &amp; Applications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References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0"/>
          </p:nvPr>
        </p:nvSpPr>
        <p:spPr>
          <a:xfrm>
            <a:off x="152280" y="4781520"/>
            <a:ext cx="2133000" cy="2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731E40C-F451-4FA5-9A8A-316AB345D2A1}" type="datetime3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December 14, 2025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41"/>
          </p:nvPr>
        </p:nvSpPr>
        <p:spPr>
          <a:xfrm>
            <a:off x="2205360" y="4784400"/>
            <a:ext cx="442764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42"/>
          </p:nvPr>
        </p:nvSpPr>
        <p:spPr>
          <a:xfrm>
            <a:off x="6553080" y="4767120"/>
            <a:ext cx="2133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5806B7-91A7-4FC1-8B94-100B5E763E38}" type="slidenum">
              <a:rPr b="0" lang="en-IN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793800"/>
            <a:ext cx="8228880" cy="389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“TUNABLE FREQUENCY GENERATOR USING MINIMAL ANALOG COMPONENTS”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256680" y="151560"/>
            <a:ext cx="173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 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280" y="0"/>
            <a:ext cx="7923960" cy="9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251640" y="653040"/>
            <a:ext cx="8154720" cy="385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ctr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Designed using commonly available components for simple construction and maintenance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LM741 operational amplifiers generate stable and tunable oscillations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Resistors, potentiometers, and capacitors enable frequency adjustment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Zener and switching diodes ensure voltage control and signal stability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2N2222 and PN2907 transistors provide signal shaping and amplification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Suitable as a low-cost signal source for educational and laboratory use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Offers a clear demonstration of core analog electronics principles with minimal circuit complexity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5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ftr" idx="43"/>
          </p:nvPr>
        </p:nvSpPr>
        <p:spPr>
          <a:xfrm>
            <a:off x="2051640" y="4803840"/>
            <a:ext cx="4860000" cy="2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6F96FC-2D55-4D33-B56C-E14B9346214A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E9656D50-69A8-4FA8-97DE-701DC84C963D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Arrow: Right 34"/>
          <p:cNvSpPr/>
          <p:nvPr/>
        </p:nvSpPr>
        <p:spPr>
          <a:xfrm>
            <a:off x="4879080" y="2077560"/>
            <a:ext cx="73872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Arrow: Down 38"/>
          <p:cNvSpPr/>
          <p:nvPr/>
        </p:nvSpPr>
        <p:spPr>
          <a:xfrm flipH="1">
            <a:off x="6192000" y="2545200"/>
            <a:ext cx="207720" cy="446040"/>
          </a:xfrm>
          <a:prstGeom prst="downArrow">
            <a:avLst>
              <a:gd name="adj1" fmla="val 62903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40"/>
          <p:cNvSpPr/>
          <p:nvPr/>
        </p:nvSpPr>
        <p:spPr>
          <a:xfrm>
            <a:off x="1371600" y="1848600"/>
            <a:ext cx="1599840" cy="70524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Frequency Control 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(Potentiometer)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41"/>
          <p:cNvSpPr/>
          <p:nvPr/>
        </p:nvSpPr>
        <p:spPr>
          <a:xfrm>
            <a:off x="5636520" y="1852560"/>
            <a:ext cx="1449720" cy="6814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Signal shaping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Arrow: Right 42"/>
          <p:cNvSpPr/>
          <p:nvPr/>
        </p:nvSpPr>
        <p:spPr>
          <a:xfrm>
            <a:off x="2971800" y="2084400"/>
            <a:ext cx="73332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45"/>
          <p:cNvSpPr/>
          <p:nvPr/>
        </p:nvSpPr>
        <p:spPr>
          <a:xfrm>
            <a:off x="3729600" y="1848600"/>
            <a:ext cx="1149120" cy="75744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Oscillator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5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"/>
          <p:cNvSpPr/>
          <p:nvPr/>
        </p:nvSpPr>
        <p:spPr>
          <a:xfrm>
            <a:off x="5636520" y="2991600"/>
            <a:ext cx="1449720" cy="6814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Amplifier/Driver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Arrow: Right 43"/>
          <p:cNvSpPr/>
          <p:nvPr/>
        </p:nvSpPr>
        <p:spPr>
          <a:xfrm flipH="1">
            <a:off x="5003640" y="3220200"/>
            <a:ext cx="63216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>
            <a:solidFill>
              <a:srgbClr val="000000"/>
            </a:solidFill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endParaRPr b="0" lang="en-IN" sz="135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3537000" y="2975760"/>
            <a:ext cx="1449720" cy="681480"/>
          </a:xfrm>
          <a:prstGeom prst="rect">
            <a:avLst/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N" sz="135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Output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 CIRCUIT DIAGRAM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44"/>
          </p:nvPr>
        </p:nvSpPr>
        <p:spPr>
          <a:xfrm>
            <a:off x="1979640" y="4813200"/>
            <a:ext cx="4714200" cy="2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3200400" y="4343400"/>
            <a:ext cx="3049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Fig 2: Tunnable frequency Generator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256320" y="1600200"/>
            <a:ext cx="4315320" cy="251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233600" y="2021400"/>
            <a:ext cx="4609440" cy="194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625AD-24C2-4BC9-B873-D264F6F132F6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B592A34-30DD-45F8-973F-8111C4F82249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 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560" y="1149840"/>
            <a:ext cx="8228880" cy="36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10000"/>
              </a:lnSpc>
              <a:spcBef>
                <a:spcPts val="320"/>
              </a:spcBef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LM741 Operation Amplifer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2N2222 NPN transistor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PN2907 PNP transistor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Zener diodes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Switching diodes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Potentiometer for frequency tuning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Capacitors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ftr" idx="45"/>
          </p:nvPr>
        </p:nvSpPr>
        <p:spPr>
          <a:xfrm>
            <a:off x="2195640" y="4783320"/>
            <a:ext cx="4385520" cy="3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EDF139-25F4-400F-8DB3-68BBEA3874E8}" type="slidenum">
              <a:t>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04FF0F9F-6FD5-4130-8B57-9D264A504A27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5. ADVANTAGES &amp; APPLICATIONS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Low-cost and simple design using minimal analog components suitable for educational use.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Provides stable and tunable frequency output for testing and experimentation.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Easy to understand and modify, making it ideal for learning core analog electronics concepts.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Used for educational laboratory experiments and academic demonstrations.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Applied in signal injection and testing of electronic circuits.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Suitable for hobbyist projects and basic analog system evaluation.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46"/>
          </p:nvPr>
        </p:nvSpPr>
        <p:spPr>
          <a:xfrm>
            <a:off x="2411640" y="4803840"/>
            <a:ext cx="3938040" cy="26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9ADBF8-1BD4-4059-8B43-14E2EAD295F6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F7C19FA6-6A63-4812-8AAD-4B09D6464DA5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/>
          </p:nvPr>
        </p:nvSpPr>
        <p:spPr>
          <a:xfrm>
            <a:off x="361800" y="260280"/>
            <a:ext cx="1504080" cy="41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685800" y="2028240"/>
            <a:ext cx="75434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“SMART IRRIGATION SYSTEM USING ARDUINO”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46120" y="1200240"/>
            <a:ext cx="8139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increasing demand for efficient water management has made automation essential in modern irrigation practices.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Traditional irrigation methods often lead to water wastage due to over-watering or delayed watering.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project presents a smart irrigation system that automatically monitors soil moisture levels in real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 Arduino microcontroller processes sensor data to control a water pump based on predefined moisture thresholds.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system ensures optimal water usage while reducing manual effort and human intervention.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By conserving water and supporting healthy plant growth, the system provides a cost-effective and sustainable solution for agriculture and home gardening.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5760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ontent Placeholder 4"/>
          <p:cNvSpPr/>
          <p:nvPr/>
        </p:nvSpPr>
        <p:spPr>
          <a:xfrm>
            <a:off x="1809720" y="2129400"/>
            <a:ext cx="1129680" cy="748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Soil Moisture Sensor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: Rounded Corners 5"/>
          <p:cNvSpPr/>
          <p:nvPr/>
        </p:nvSpPr>
        <p:spPr>
          <a:xfrm>
            <a:off x="3400560" y="1371600"/>
            <a:ext cx="754920" cy="278676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A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U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Arrow: Right 9"/>
          <p:cNvSpPr/>
          <p:nvPr/>
        </p:nvSpPr>
        <p:spPr>
          <a:xfrm>
            <a:off x="2965320" y="2365200"/>
            <a:ext cx="410400" cy="27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Arrow: Right 11"/>
          <p:cNvSpPr/>
          <p:nvPr/>
        </p:nvSpPr>
        <p:spPr>
          <a:xfrm>
            <a:off x="4162680" y="1658160"/>
            <a:ext cx="86616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: Rounded Corners 12"/>
          <p:cNvSpPr/>
          <p:nvPr/>
        </p:nvSpPr>
        <p:spPr>
          <a:xfrm>
            <a:off x="5029200" y="1503360"/>
            <a:ext cx="1072440" cy="746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Water Pump(Motor/Relay)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: Rounded Corners 13"/>
          <p:cNvSpPr/>
          <p:nvPr/>
        </p:nvSpPr>
        <p:spPr>
          <a:xfrm>
            <a:off x="5029200" y="3187080"/>
            <a:ext cx="1072440" cy="493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Power Supply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: Rounded Corners 14"/>
          <p:cNvSpPr/>
          <p:nvPr/>
        </p:nvSpPr>
        <p:spPr>
          <a:xfrm>
            <a:off x="6708960" y="1539360"/>
            <a:ext cx="1063080" cy="493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Irrigation/water flow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Arrow: Right 1"/>
          <p:cNvSpPr/>
          <p:nvPr/>
        </p:nvSpPr>
        <p:spPr>
          <a:xfrm>
            <a:off x="4155840" y="3258360"/>
            <a:ext cx="86616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Arrow: Right 2"/>
          <p:cNvSpPr/>
          <p:nvPr/>
        </p:nvSpPr>
        <p:spPr>
          <a:xfrm>
            <a:off x="6102000" y="1658160"/>
            <a:ext cx="60660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64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3.CIRCUIT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349640" y="914400"/>
            <a:ext cx="6422400" cy="408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888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393840" y="874440"/>
            <a:ext cx="8355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Arduino microcontroller board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Soil moisture sensor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Water pump (DC pump)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Relay module or motor driver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External power supply or battery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Connecting wires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Breadboard or PCB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Water pipes or tubing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/>
          </p:nvPr>
        </p:nvSpPr>
        <p:spPr>
          <a:xfrm>
            <a:off x="433800" y="260280"/>
            <a:ext cx="1504080" cy="41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TOPIC NO:3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515600" y="2057400"/>
            <a:ext cx="5570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“SMART SHOPPING CART SYSTEM”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INTRODUCTION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46120" y="1200240"/>
            <a:ext cx="8139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smart shopping cart system is designed to automate item detection and billing in retail environments.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system uses an ESP8266 microcontroller along with an RC522 RFID reader to scan RFID-tagged products.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Scanned item details such as name, price, and wallet balance are displayed on an OLED screen.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A running list of purchased items is maintained for accurate and transparent billing.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The Blynk application enables remote monitoring and access to shopping data.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This system reduces manual effort, minimizes checkout queues, and supports a smart cashless shopping experience.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5796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2.BLOCK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ontent Placeholder 5"/>
          <p:cNvSpPr/>
          <p:nvPr/>
        </p:nvSpPr>
        <p:spPr>
          <a:xfrm>
            <a:off x="746280" y="1600200"/>
            <a:ext cx="1129680" cy="7484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RFID TAG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Arrow: Right 3"/>
          <p:cNvSpPr/>
          <p:nvPr/>
        </p:nvSpPr>
        <p:spPr>
          <a:xfrm>
            <a:off x="1901880" y="1836000"/>
            <a:ext cx="823320" cy="27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: Rounded Corners 2"/>
          <p:cNvSpPr/>
          <p:nvPr/>
        </p:nvSpPr>
        <p:spPr>
          <a:xfrm>
            <a:off x="2725560" y="1623960"/>
            <a:ext cx="1072440" cy="746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RFID reader module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: Rounded Corners 3"/>
          <p:cNvSpPr/>
          <p:nvPr/>
        </p:nvSpPr>
        <p:spPr>
          <a:xfrm>
            <a:off x="4870800" y="3200400"/>
            <a:ext cx="1072440" cy="49392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OLED DISPLAY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: Rounded Corners 4"/>
          <p:cNvSpPr/>
          <p:nvPr/>
        </p:nvSpPr>
        <p:spPr>
          <a:xfrm>
            <a:off x="4880160" y="1600200"/>
            <a:ext cx="1063080" cy="9140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ESP8266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Arrow: Right 5"/>
          <p:cNvSpPr/>
          <p:nvPr/>
        </p:nvSpPr>
        <p:spPr>
          <a:xfrm>
            <a:off x="5943600" y="1911600"/>
            <a:ext cx="114264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Arrow: Right 6"/>
          <p:cNvSpPr/>
          <p:nvPr/>
        </p:nvSpPr>
        <p:spPr>
          <a:xfrm>
            <a:off x="3816000" y="1864800"/>
            <a:ext cx="1063800" cy="302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: Rounded Corners 1"/>
          <p:cNvSpPr/>
          <p:nvPr/>
        </p:nvSpPr>
        <p:spPr>
          <a:xfrm>
            <a:off x="7086600" y="1600200"/>
            <a:ext cx="1072440" cy="91404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WIFI MOBILE APP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5257800" y="2514600"/>
            <a:ext cx="228240" cy="68544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2a6099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64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3.CIRCUIT DIAGRAM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2571120" y="1143000"/>
            <a:ext cx="4057920" cy="342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44280"/>
            <a:ext cx="822888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4.COMPONENTS REQUIRED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393840" y="874440"/>
            <a:ext cx="835596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ESP8266 microcontroller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RC522 RFID reader module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RFID tags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OLED display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Blynk mobile application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Power supply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Connecting wires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Calibri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Source Han Sans CN"/>
              </a:rPr>
              <a:t>Breadboard or PCB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6. CONCLUSION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selected projects demonstrate the practical application of electronics, embedded systems, and automation concepts.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Each project focuses on solving real-world problems using cost-effective and efficient technological solutions.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frequency generator emphasizes core analog electronics and signal generation fundamentals.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smart irrigation system highlights sensor-based automation and sustainable resource management.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smart shopping cart showcases the integration of IoT and embedded systems for smart retail solutions.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Together, these projects reflect a balanced understanding of analog, digital, and IoT-based system design.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ftr" idx="47"/>
          </p:nvPr>
        </p:nvSpPr>
        <p:spPr>
          <a:xfrm>
            <a:off x="2214720" y="4781520"/>
            <a:ext cx="45284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63E968-C7E4-4855-BFB9-DE1DCDAA3ED8}" type="slidenum">
              <a:t>19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CCEF6AE-605D-4936-AC1F-2CB9DFE5641D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8880" cy="85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7. REFERENCES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8880" cy="33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Sedra, A. S., &amp; Smith, K. C., Microelectronic Circuits, Oxford University Press – Reference for analog oscillators and frequency generator concepts.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Banzi, M., &amp; Shiloh, M., Getting Started with Arduino, Maker Media – Reference for Arduino-based smart irrigation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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Kumar, S., &amp; Pande, R., “RFID Based Smart Shopping Cart System,” International Journal of Engineering Research and Technology (IJERT) – Reference for RFID and IoT-enabled shopping cart systems.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ftr" idx="48"/>
          </p:nvPr>
        </p:nvSpPr>
        <p:spPr>
          <a:xfrm>
            <a:off x="2428920" y="4781520"/>
            <a:ext cx="438552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7EAA2F-A1F1-4450-9978-522CB6A1BDD8}" type="slidenum">
              <a:t>20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068629FF-9EB8-4773-A76C-B0531B6D0465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ftr" idx="49"/>
          </p:nvPr>
        </p:nvSpPr>
        <p:spPr>
          <a:xfrm>
            <a:off x="2643120" y="4788360"/>
            <a:ext cx="4288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  <a:ea typeface="Calibri"/>
              </a:rPr>
              <a:t>ECD334: MINIPROJECT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1251720" y="2038320"/>
            <a:ext cx="61714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IN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THANK YOU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FFCAD2-DA4B-486D-9D4A-960FAE04E844}" type="slidenum">
              <a:t>21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996CA0B5-66D6-4BAA-A376-B15488EA680D}" type="datetime3">
              <a:rPr lang="en-US"/>
              <a:t>December 14, 2025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Application>LibreOffice/25.8.3.2$Linux_X86_64 LibreOffice_project/5ee70f9e60a556cf41458d71cbfa54885591385a</Application>
  <AppVersion>15.0000</AppVersion>
  <Words>845</Words>
  <Paragraphs>154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dc:description/>
  <dc:language>en-US</dc:language>
  <cp:lastModifiedBy/>
  <dcterms:modified xsi:type="dcterms:W3CDTF">2025-12-14T22:26:23Z</dcterms:modified>
  <cp:revision>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