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5.xml.rels" ContentType="application/vnd.openxmlformats-package.relationships+xml"/>
  <Override PartName="/ppt/slides/_rels/slide16.xml.rels" ContentType="application/vnd.openxmlformats-package.relationshi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CF288C0-54A0-4D25-9738-C8617408230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2FF563-E082-496A-93E4-83DD5E8CE29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ftr" idx="51"/>
          </p:nvPr>
        </p:nvSpPr>
        <p:spPr>
          <a:xfrm>
            <a:off x="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Department 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hdr"/>
          </p:nvPr>
        </p:nvSpPr>
        <p:spPr>
          <a:xfrm>
            <a:off x="0" y="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Project /Seminar Code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76F9C9-5386-4FC2-B6B0-D134D4EB1AED}" type="slidenum">
              <a: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C8BBCC-66D7-40F6-BFBD-9188ED193C13}" type="slidenum">
              <a: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Project /Seminar Code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ftr" idx="54"/>
          </p:nvPr>
        </p:nvSpPr>
        <p:spPr>
          <a:xfrm>
            <a:off x="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Department 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0285AD-1957-4766-A285-F92DCD3D919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A7F163-669D-408C-83ED-F19199602DA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7B46D1-82F2-4BD8-8492-837EFCFE67F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Project /Seminar Code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ftr" idx="58"/>
          </p:nvPr>
        </p:nvSpPr>
        <p:spPr>
          <a:xfrm>
            <a:off x="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Department 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7047B5-3EC7-41CA-921D-0EB331A685F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Project /Seminar Code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ftr" idx="60"/>
          </p:nvPr>
        </p:nvSpPr>
        <p:spPr>
          <a:xfrm>
            <a:off x="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Department 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50EFF8-8C60-4B04-B70F-E55AFF30F39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5FA580-3E5D-49CB-BA26-44DDC151B93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A797BA-44A6-44AF-8510-0FCCD49B601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86584E-82E1-49D9-AD53-F1CC3CC37D0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7400" cy="339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7400" cy="339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203040" y="478836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048120" y="4781520"/>
            <a:ext cx="28944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B88115-E5FC-4D93-9110-4A65B662F7A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20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200" cy="296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064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0640" cy="296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203040" y="478836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048120" y="4781520"/>
            <a:ext cx="28944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7DDC72-B264-4EE1-8E35-1A93D34DD05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203040" y="478836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048120" y="4781520"/>
            <a:ext cx="28944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592A08-EDF7-4DBC-BBB2-2B80651617D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203040" y="478836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048120" y="4781520"/>
            <a:ext cx="28944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7C1DB5-634B-4766-8A27-69ACE572A67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080" cy="87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0560" cy="438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080" cy="351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203040" y="478836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048120" y="4781520"/>
            <a:ext cx="28944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1289B1-BDDA-4AD0-B889-1A71FEBAC81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5320" cy="4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5320" cy="308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5320" cy="60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203040" y="478836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048120" y="4781520"/>
            <a:ext cx="28944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A2BA5B-E6B8-4481-B269-62F2A62A021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228600" y="47815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048120" y="4781520"/>
            <a:ext cx="2894400" cy="28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4C7485-FB65-4750-8077-5BA8C28D75B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8520" cy="339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2"/>
          </p:nvPr>
        </p:nvSpPr>
        <p:spPr>
          <a:xfrm>
            <a:off x="203040" y="478836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3"/>
          </p:nvPr>
        </p:nvSpPr>
        <p:spPr>
          <a:xfrm>
            <a:off x="3048120" y="4781520"/>
            <a:ext cx="28944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C1DBA0-52BD-4D38-AE57-66216F8EAFC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6320" cy="438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8840" cy="438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5"/>
          </p:nvPr>
        </p:nvSpPr>
        <p:spPr>
          <a:xfrm>
            <a:off x="203040" y="478836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6"/>
          </p:nvPr>
        </p:nvSpPr>
        <p:spPr>
          <a:xfrm>
            <a:off x="3048120" y="4781520"/>
            <a:ext cx="28944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1527E4-10B2-431E-B87C-7012403A87E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8520" cy="339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152280" y="4781520"/>
            <a:ext cx="2132640" cy="27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2971800" y="4781520"/>
            <a:ext cx="28944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84C6A5-5163-48B7-ADB6-1DF04D3A23B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1320" cy="102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1320" cy="112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203040" y="478836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3048120" y="4781520"/>
            <a:ext cx="28944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7809AD-E830-46C9-9E3D-9463BD40D2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60440" y="3189600"/>
            <a:ext cx="3427920" cy="13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defTabSz="914400">
              <a:lnSpc>
                <a:spcPct val="16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Guided by: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Prof. Teena Abraham, Asst Professor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Mr.Eldhose Joy, Tradesman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ECE DEPAR</a:t>
            </a: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37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" name="Picture 2" descr="C:\Users\Admin\Desktop\ECL 201\MBITS LOGO.png"/>
          <p:cNvPicPr/>
          <p:nvPr/>
        </p:nvPicPr>
        <p:blipFill>
          <a:blip r:embed="rId1"/>
          <a:stretch/>
        </p:blipFill>
        <p:spPr>
          <a:xfrm>
            <a:off x="214200" y="142920"/>
            <a:ext cx="1070640" cy="102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Subtitle 2"/>
          <p:cNvSpPr/>
          <p:nvPr/>
        </p:nvSpPr>
        <p:spPr>
          <a:xfrm>
            <a:off x="5943600" y="3411000"/>
            <a:ext cx="2513520" cy="13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0" name="Subtitle 2"/>
          <p:cNvSpPr/>
          <p:nvPr/>
        </p:nvSpPr>
        <p:spPr>
          <a:xfrm>
            <a:off x="6629400" y="3643200"/>
            <a:ext cx="2513520" cy="13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1" name="Subtitle 2"/>
          <p:cNvSpPr/>
          <p:nvPr/>
        </p:nvSpPr>
        <p:spPr>
          <a:xfrm>
            <a:off x="1828800" y="2082240"/>
            <a:ext cx="4951800" cy="80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1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Subtitle 2"/>
          <p:cNvSpPr/>
          <p:nvPr/>
        </p:nvSpPr>
        <p:spPr>
          <a:xfrm>
            <a:off x="5200560" y="3003840"/>
            <a:ext cx="3999600" cy="14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7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Presented by: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Jesald Tony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Richard S Arreckal</a:t>
            </a:r>
            <a:br>
              <a:rPr sz="1400"/>
            </a:b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             Sreejith VB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    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7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S6 ECE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3"/>
          <p:cNvSpPr/>
          <p:nvPr/>
        </p:nvSpPr>
        <p:spPr>
          <a:xfrm>
            <a:off x="1151640" y="101160"/>
            <a:ext cx="710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MAR BASELIOS INSTITUTE OF TECHNOLOGY AND SCIENCE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2798280" y="437400"/>
            <a:ext cx="2619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NELLIMATTOM, KOTHAMANGALAM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38"/>
          </p:nvPr>
        </p:nvSpPr>
        <p:spPr>
          <a:xfrm>
            <a:off x="228600" y="47815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ABA4D2B5-C525-4808-BB48-939975363E07}" type="datetime3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December 17, 2025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ftr" idx="39"/>
          </p:nvPr>
        </p:nvSpPr>
        <p:spPr>
          <a:xfrm>
            <a:off x="2143080" y="4786200"/>
            <a:ext cx="507096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</a:t>
            </a: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TextBox 16"/>
          <p:cNvSpPr/>
          <p:nvPr/>
        </p:nvSpPr>
        <p:spPr>
          <a:xfrm>
            <a:off x="1664280" y="714240"/>
            <a:ext cx="4998240" cy="73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DEPARTMENT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OF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ELECTRONICS AND COMMUNICATION ENGINEERING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"/>
          <p:cNvSpPr/>
          <p:nvPr/>
        </p:nvSpPr>
        <p:spPr>
          <a:xfrm>
            <a:off x="784440" y="1722240"/>
            <a:ext cx="71010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ECD334   MINIPROJECT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ZEROTH REVIEW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AutoShape 2" descr="NBA Accreditation | Admission in B.tech ..."/>
          <p:cNvSpPr/>
          <p:nvPr/>
        </p:nvSpPr>
        <p:spPr>
          <a:xfrm>
            <a:off x="155520" y="-144360"/>
            <a:ext cx="3038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AutoShape 4" descr="NBA Accreditation | Admission in B.tech ..."/>
          <p:cNvSpPr/>
          <p:nvPr/>
        </p:nvSpPr>
        <p:spPr>
          <a:xfrm>
            <a:off x="155520" y="-144360"/>
            <a:ext cx="3038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5" descr=""/>
          <p:cNvPicPr/>
          <p:nvPr/>
        </p:nvPicPr>
        <p:blipFill>
          <a:blip r:embed="rId2"/>
          <a:stretch/>
        </p:blipFill>
        <p:spPr>
          <a:xfrm>
            <a:off x="6786720" y="437400"/>
            <a:ext cx="999000" cy="999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" name="Picture 6" descr=""/>
          <p:cNvPicPr/>
          <p:nvPr/>
        </p:nvPicPr>
        <p:blipFill>
          <a:blip r:embed="rId3"/>
          <a:stretch/>
        </p:blipFill>
        <p:spPr>
          <a:xfrm>
            <a:off x="7866000" y="470520"/>
            <a:ext cx="999000" cy="92988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357200" y="214200"/>
            <a:ext cx="648216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OUTLINE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85800" y="1000080"/>
            <a:ext cx="8457120" cy="399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Introduction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Block Diagram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Circuit Diagram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Components Required with Specification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Advantages &amp; Applications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Conclusion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References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40"/>
          </p:nvPr>
        </p:nvSpPr>
        <p:spPr>
          <a:xfrm>
            <a:off x="152280" y="4781520"/>
            <a:ext cx="2132640" cy="27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9E466FC6-B91E-479D-BD50-4F099654EC97}" type="datetime3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December 17, 2025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ftr" idx="41"/>
          </p:nvPr>
        </p:nvSpPr>
        <p:spPr>
          <a:xfrm>
            <a:off x="2205360" y="4784400"/>
            <a:ext cx="442728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sldNum" idx="42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F5E45E-F04B-4C6D-8777-55A562679C7F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793800"/>
            <a:ext cx="8228520" cy="389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“TUNABLE FREQUENCY GENERATOR USING MINIMAL ANALOG COMPONENTS”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256680" y="151560"/>
            <a:ext cx="1734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8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TOPIC NO: 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52280" y="0"/>
            <a:ext cx="7923600" cy="90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1. 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251640" y="653040"/>
            <a:ext cx="8154360" cy="38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ctr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Designed using commonly available components for simple construction and maintenance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LM741 operational amplifiers generate stable and tunable oscillations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Resistors, potentiometers, and capacitors enable frequency adjustment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Zener and switching diodes ensure voltage control and signal stability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2N2222 and PN2907 transistors provide signal shaping and amplification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Suitable as a low-cost signal source for educational and laboratory use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Offers a clear demonstration of core analog electronics principles with minimal circuit complexity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5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ftr" idx="43"/>
          </p:nvPr>
        </p:nvSpPr>
        <p:spPr>
          <a:xfrm>
            <a:off x="2051640" y="4803840"/>
            <a:ext cx="48596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063737-7EE4-4EBF-950F-56FC57BC8232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21582F68-4008-48AC-A30A-5260A950CD09}" type="datetime3">
              <a:rPr lang="en-US"/>
              <a:t>December 17,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Arrow: Right 34"/>
          <p:cNvSpPr/>
          <p:nvPr/>
        </p:nvSpPr>
        <p:spPr>
          <a:xfrm>
            <a:off x="4879080" y="2077560"/>
            <a:ext cx="738360" cy="22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35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Arrow: Down 38"/>
          <p:cNvSpPr/>
          <p:nvPr/>
        </p:nvSpPr>
        <p:spPr>
          <a:xfrm flipH="1">
            <a:off x="6192000" y="2545200"/>
            <a:ext cx="207360" cy="445680"/>
          </a:xfrm>
          <a:prstGeom prst="downArrow">
            <a:avLst>
              <a:gd name="adj1" fmla="val 62903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35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40"/>
          <p:cNvSpPr/>
          <p:nvPr/>
        </p:nvSpPr>
        <p:spPr>
          <a:xfrm>
            <a:off x="1371600" y="1848600"/>
            <a:ext cx="1599480" cy="70488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Frequency Control 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(Potentiometer)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41"/>
          <p:cNvSpPr/>
          <p:nvPr/>
        </p:nvSpPr>
        <p:spPr>
          <a:xfrm>
            <a:off x="5636520" y="1852560"/>
            <a:ext cx="1449360" cy="68112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Signal shaping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Arrow: Right 42"/>
          <p:cNvSpPr/>
          <p:nvPr/>
        </p:nvSpPr>
        <p:spPr>
          <a:xfrm>
            <a:off x="2971800" y="2084400"/>
            <a:ext cx="732960" cy="220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35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45"/>
          <p:cNvSpPr/>
          <p:nvPr/>
        </p:nvSpPr>
        <p:spPr>
          <a:xfrm>
            <a:off x="3729600" y="1848600"/>
            <a:ext cx="1148760" cy="75708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Oscillator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5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2.BLOCK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1"/>
          <p:cNvSpPr/>
          <p:nvPr/>
        </p:nvSpPr>
        <p:spPr>
          <a:xfrm>
            <a:off x="5636520" y="2991600"/>
            <a:ext cx="1449360" cy="68112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Amplifier/Driver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Arrow: Right 43"/>
          <p:cNvSpPr/>
          <p:nvPr/>
        </p:nvSpPr>
        <p:spPr>
          <a:xfrm flipH="1">
            <a:off x="5002920" y="3220200"/>
            <a:ext cx="631800" cy="220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endParaRPr b="0" lang="en-IN" sz="135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2"/>
          <p:cNvSpPr/>
          <p:nvPr/>
        </p:nvSpPr>
        <p:spPr>
          <a:xfrm>
            <a:off x="3537000" y="2975760"/>
            <a:ext cx="1449360" cy="68112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Output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split dir="out" orient="vert"/>
      </p:transition>
    </mc:Choice>
    <mc:Fallback>
      <p:transition spd="slow">
        <p:split dir="out" orient="vert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3. CIRCUIT DIAGRAM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ftr" idx="44"/>
          </p:nvPr>
        </p:nvSpPr>
        <p:spPr>
          <a:xfrm>
            <a:off x="1979640" y="4813200"/>
            <a:ext cx="4713840" cy="28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3200400" y="4343400"/>
            <a:ext cx="304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Fig 2: Tunnable frequency Generator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601920" y="1528200"/>
            <a:ext cx="7832880" cy="237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C96145-9E8B-488E-9D68-48EB8F80038C}" type="slidenum">
              <a:t>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EC996D95-468E-4AB0-A5FA-23B84FB1DA98}" type="datetime3">
              <a:rPr lang="en-US"/>
              <a:t>December 17,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4. COMPONENTS REQUIRED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560" y="1149840"/>
            <a:ext cx="8228520" cy="365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1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LM741 Operation Amplifer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2N2222 NPN transistor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PN2907 PNP transistor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Zener diodes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Switching diodes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Potentiometer for frequency tuning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Capacitors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ftr" idx="45"/>
          </p:nvPr>
        </p:nvSpPr>
        <p:spPr>
          <a:xfrm>
            <a:off x="2195640" y="4783320"/>
            <a:ext cx="4385160" cy="33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D818F8-33D7-4A55-9740-FC6D2041DC32}" type="slidenum">
              <a:t>7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DF0789A4-E6EE-4737-B3DB-F50CA8E21DB5}" type="datetime3">
              <a:rPr lang="en-US"/>
              <a:t>December 17,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5. ADVANTAGES &amp; APPLICATIONS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520" cy="339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Low-cost and simple design using minimal analog components suitable for educational use.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Provides stable and tunable frequency output for testing and experimentation.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Easy to understand and modify, making it ideal for learning core analog electronics concepts.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Used for educational laboratory experiments and academic demonstrations.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Applied in signal injection and testing of electronic circuits.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Suitable for hobbyist projects and basic analog system evaluation.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ftr" idx="46"/>
          </p:nvPr>
        </p:nvSpPr>
        <p:spPr>
          <a:xfrm>
            <a:off x="2411640" y="4803840"/>
            <a:ext cx="3937680" cy="26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4249BE-CB9F-4A3B-94F0-F719ECACE1D3}" type="slidenum">
              <a:t>8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5ABEF86F-6824-4E95-800C-09D9954C2A3E}" type="datetime3">
              <a:rPr lang="en-US"/>
              <a:t>December 17,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/>
          </p:nvPr>
        </p:nvSpPr>
        <p:spPr>
          <a:xfrm>
            <a:off x="361800" y="260280"/>
            <a:ext cx="1503720" cy="41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TOPIC NO:2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685800" y="2028240"/>
            <a:ext cx="75430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“SMART IRRIGATION SYSTEM USING ARDUINO”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1. 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546120" y="1200240"/>
            <a:ext cx="8139600" cy="339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increasing demand for efficient water management has made automation essential in modern irrigation practices.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Traditional irrigation methods often lead to water wastage due to over-watering or delayed watering.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This project presents a smart irrigation system that automatically monitors soil moisture levels in real time.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An Arduino microcontroller processes sensor data to control a water pump based on predefined moisture thresholds.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system ensures optimal water usage while reducing manual effort and human intervention.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By conserving water and supporting healthy plant growth, the system provides a cost-effective and sustainable solution for agriculture and home gardening.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5760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2.BLOCK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ontent Placeholder 4"/>
          <p:cNvSpPr/>
          <p:nvPr/>
        </p:nvSpPr>
        <p:spPr>
          <a:xfrm>
            <a:off x="1809720" y="2129400"/>
            <a:ext cx="1129320" cy="7480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Soil Moisture Sensor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: Rounded Corners 5"/>
          <p:cNvSpPr/>
          <p:nvPr/>
        </p:nvSpPr>
        <p:spPr>
          <a:xfrm>
            <a:off x="3400560" y="1371600"/>
            <a:ext cx="754560" cy="27864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A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U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I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O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Arrow: Right 9"/>
          <p:cNvSpPr/>
          <p:nvPr/>
        </p:nvSpPr>
        <p:spPr>
          <a:xfrm>
            <a:off x="2965320" y="2365200"/>
            <a:ext cx="410040" cy="271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Arrow: Right 11"/>
          <p:cNvSpPr/>
          <p:nvPr/>
        </p:nvSpPr>
        <p:spPr>
          <a:xfrm>
            <a:off x="4162680" y="1658160"/>
            <a:ext cx="865800" cy="301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: Rounded Corners 12"/>
          <p:cNvSpPr/>
          <p:nvPr/>
        </p:nvSpPr>
        <p:spPr>
          <a:xfrm>
            <a:off x="5029200" y="1503360"/>
            <a:ext cx="1072080" cy="74592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Water Pump(Motor/Relay)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: Rounded Corners 13"/>
          <p:cNvSpPr/>
          <p:nvPr/>
        </p:nvSpPr>
        <p:spPr>
          <a:xfrm>
            <a:off x="5029200" y="3187080"/>
            <a:ext cx="1072080" cy="4935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Power Supply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: Rounded Corners 14"/>
          <p:cNvSpPr/>
          <p:nvPr/>
        </p:nvSpPr>
        <p:spPr>
          <a:xfrm>
            <a:off x="6708960" y="1539360"/>
            <a:ext cx="1062720" cy="4935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Irrigation/water flow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Arrow: Right 1"/>
          <p:cNvSpPr/>
          <p:nvPr/>
        </p:nvSpPr>
        <p:spPr>
          <a:xfrm>
            <a:off x="4155840" y="3258360"/>
            <a:ext cx="865800" cy="301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Arrow: Right 2"/>
          <p:cNvSpPr/>
          <p:nvPr/>
        </p:nvSpPr>
        <p:spPr>
          <a:xfrm>
            <a:off x="6102000" y="1658160"/>
            <a:ext cx="606240" cy="301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3.CIRCUIT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1349640" y="914400"/>
            <a:ext cx="6422040" cy="408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44280"/>
            <a:ext cx="8228520" cy="81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4.COMPONENTS REQUIRED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93840" y="874440"/>
            <a:ext cx="8355600" cy="339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Arduino microcontroller board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Soil moisture sensor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Water pump (DC pump)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Relay module or motor driver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External power supply or battery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Connecting wires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Breadboard or PCB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Water pipes or tubing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/>
          </p:nvPr>
        </p:nvSpPr>
        <p:spPr>
          <a:xfrm>
            <a:off x="433800" y="260280"/>
            <a:ext cx="1503720" cy="41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TOPIC NO:3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1515600" y="2057400"/>
            <a:ext cx="55702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“SMART SHOPPING CART SYSTEM”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1. 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546120" y="1200240"/>
            <a:ext cx="8139600" cy="339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The smart shopping cart system is designed to automate item detection and billing in retail environments.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The system uses an ESP8266 microcontroller along with an RC522 RFID reader to scan RFID-tagged products.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Scanned item details such as name, price, and wallet balance are displayed on an OLED screen.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A running list of purchased items is maintained for accurate and transparent billing.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The Blynk application enables remote monitoring and access to shopping data.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This system reduces manual effort, minimizes checkout queues, and supports a smart cashless shopping experience.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5796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2.BLOCK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ontent Placeholder 5"/>
          <p:cNvSpPr/>
          <p:nvPr/>
        </p:nvSpPr>
        <p:spPr>
          <a:xfrm>
            <a:off x="746280" y="1600200"/>
            <a:ext cx="1129320" cy="7480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RFID TAG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Arrow: Right 3"/>
          <p:cNvSpPr/>
          <p:nvPr/>
        </p:nvSpPr>
        <p:spPr>
          <a:xfrm>
            <a:off x="1901880" y="1836000"/>
            <a:ext cx="822960" cy="271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: Rounded Corners 2"/>
          <p:cNvSpPr/>
          <p:nvPr/>
        </p:nvSpPr>
        <p:spPr>
          <a:xfrm>
            <a:off x="2725560" y="1623960"/>
            <a:ext cx="1072080" cy="74592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RFID reader module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: Rounded Corners 3"/>
          <p:cNvSpPr/>
          <p:nvPr/>
        </p:nvSpPr>
        <p:spPr>
          <a:xfrm>
            <a:off x="4870800" y="3200400"/>
            <a:ext cx="1072080" cy="4935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OLED DISPLAY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: Rounded Corners 4"/>
          <p:cNvSpPr/>
          <p:nvPr/>
        </p:nvSpPr>
        <p:spPr>
          <a:xfrm>
            <a:off x="4880160" y="1600200"/>
            <a:ext cx="1062720" cy="9136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ESP8266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Arrow: Right 5"/>
          <p:cNvSpPr/>
          <p:nvPr/>
        </p:nvSpPr>
        <p:spPr>
          <a:xfrm>
            <a:off x="5943600" y="1911600"/>
            <a:ext cx="1142280" cy="301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Arrow: Right 6"/>
          <p:cNvSpPr/>
          <p:nvPr/>
        </p:nvSpPr>
        <p:spPr>
          <a:xfrm>
            <a:off x="3816000" y="1864800"/>
            <a:ext cx="1063440" cy="301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: Rounded Corners 1"/>
          <p:cNvSpPr/>
          <p:nvPr/>
        </p:nvSpPr>
        <p:spPr>
          <a:xfrm>
            <a:off x="7086600" y="1600200"/>
            <a:ext cx="1072080" cy="9136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WIFI MOBILE APP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5257800" y="2514600"/>
            <a:ext cx="227880" cy="68508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2a609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3.CIRCUIT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tretch/>
        </p:blipFill>
        <p:spPr>
          <a:xfrm>
            <a:off x="2571120" y="1143000"/>
            <a:ext cx="4057560" cy="3428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44280"/>
            <a:ext cx="8228520" cy="81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4.COMPONENTS REQUIRED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393840" y="874440"/>
            <a:ext cx="8355600" cy="339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ESP8266 microcontroller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RC522 RFID reader module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RFID tags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OLED display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Blynk mobile application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Power supply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Connecting wires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Breadboard or PCB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6. CONCLUSION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520" cy="339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selected projects demonstrate the practical application of electronics, embedded systems, and automation concepts.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Each project focuses on solving real-world problems using cost-effective and efficient technological solutions.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frequency generator emphasizes core analog electronics and signal generation fundamentals.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smart irrigation system highlights sensor-based automation and sustainable resource management.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smart shopping cart showcases the integration of IoT and embedded systems for smart retail solutions.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Together, these projects reflect a balanced understanding of analog, digital, and IoT-based system design.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ftr" idx="47"/>
          </p:nvPr>
        </p:nvSpPr>
        <p:spPr>
          <a:xfrm>
            <a:off x="2214720" y="4781520"/>
            <a:ext cx="45280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9CD705-B8A6-4955-A64E-05937C325638}" type="slidenum">
              <a:t>19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4F35B376-A0D1-47C7-AB12-C9E5BA946236}" type="datetime3">
              <a:rPr lang="en-US"/>
              <a:t>December 17,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52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7. REFERENCES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520" cy="339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Sedra, A. S., &amp; Smith, K. C., Microelectronic Circuits, Oxford University Press – Reference for analog oscillators and frequency generator concepts.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Banzi, M., &amp; Shiloh, M., Getting Started with Arduino, Maker Media – Reference for Arduino-based smart irrigation systems.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Kumar, S., &amp; Pande, R., “RFID Based Smart Shopping Cart System,” International Journal of Engineering Research and Technology (IJERT) – Reference for RFID and IoT-enabled shopping cart systems.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ftr" idx="48"/>
          </p:nvPr>
        </p:nvSpPr>
        <p:spPr>
          <a:xfrm>
            <a:off x="2428920" y="4781520"/>
            <a:ext cx="438516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C19613-31AF-4296-BBB5-B3604D2A3F55}" type="slidenum">
              <a:t>20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F2E0AFD3-F833-46C8-B1B8-F249D3B7347B}" type="datetime3">
              <a:rPr lang="en-US"/>
              <a:t>December 17,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ftr" idx="49"/>
          </p:nvPr>
        </p:nvSpPr>
        <p:spPr>
          <a:xfrm>
            <a:off x="2643120" y="4788360"/>
            <a:ext cx="4288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TextBox 4"/>
          <p:cNvSpPr/>
          <p:nvPr/>
        </p:nvSpPr>
        <p:spPr>
          <a:xfrm>
            <a:off x="1251720" y="2038320"/>
            <a:ext cx="61711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IN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THANK YOU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B2A33B-C820-43B4-AB28-5071F983BD15}" type="slidenum">
              <a:t>21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DEDC8B17-8B1F-4AA2-B585-93821C08D73A}" type="datetime3">
              <a:rPr lang="en-US"/>
              <a:t>December 17,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</TotalTime>
  <Application>LibreOffice/25.8.3.2$Linux_X86_64 LibreOffice_project/5ee70f9e60a556cf41458d71cbfa54885591385a</Application>
  <AppVersion>15.0000</AppVersion>
  <Words>845</Words>
  <Paragraphs>154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dc:description/>
  <dc:language>en-US</dc:language>
  <cp:lastModifiedBy/>
  <dcterms:modified xsi:type="dcterms:W3CDTF">2025-12-17T21:52:35Z</dcterms:modified>
  <cp:revision>10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